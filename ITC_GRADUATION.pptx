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3" d="100"/>
          <a:sy n="83" d="100"/>
        </p:scale>
        <p:origin x="76" y="1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Results</c:v>
                </c:pt>
              </c:strCache>
            </c:strRef>
          </c:tx>
          <c:spPr>
            <a:solidFill>
              <a:schemeClr val="accent1"/>
            </a:solidFill>
            <a:ln w="9525" cap="flat">
              <a:solidFill>
                <a:srgbClr val="F9F9F9"/>
              </a:solidFill>
              <a:prstDash val="solid"/>
              <a:round/>
            </a:ln>
            <a:effectLst/>
          </c:spPr>
          <c:dPt>
            <c:idx val="0"/>
            <c:bubble3D val="0"/>
            <c:spPr>
              <a:solidFill>
                <a:srgbClr val="00E676"/>
              </a:solidFill>
              <a:effectLst/>
            </c:spPr>
            <c:extLst>
              <c:ext xmlns:c16="http://schemas.microsoft.com/office/drawing/2014/chart" uri="{C3380CC4-5D6E-409C-BE32-E72D297353CC}">
                <c16:uniqueId val="{00000001-EBF6-457D-A62C-0858C2DD3E50}"/>
              </c:ext>
            </c:extLst>
          </c:dPt>
          <c:dPt>
            <c:idx val="1"/>
            <c:bubble3D val="0"/>
            <c:spPr>
              <a:solidFill>
                <a:srgbClr val="FF5252"/>
              </a:solidFill>
              <a:effectLst/>
            </c:spPr>
            <c:extLst>
              <c:ext xmlns:c16="http://schemas.microsoft.com/office/drawing/2014/chart" uri="{C3380CC4-5D6E-409C-BE32-E72D297353CC}">
                <c16:uniqueId val="{00000003-EBF6-457D-A62C-0858C2DD3E50}"/>
              </c:ext>
            </c:extLst>
          </c:dPt>
          <c:dLbls>
            <c:dLbl>
              <c:idx val="0"/>
              <c:tx>
                <c:rich>
                  <a:bodyPr/>
                  <a:lstStyle/>
                  <a:p>
                    <a:pPr>
                      <a:defRPr sz="1000" b="0" i="0" u="none" strike="noStrike">
                        <a:solidFill>
                          <a:srgbClr val="000000"/>
                        </a:solidFill>
                        <a:latin typeface="Arial"/>
                      </a:defRPr>
                    </a:pPr>
                    <a:r>
                      <a:rPr lang="en-US" dirty="0"/>
                      <a:t>100 %</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1-EBF6-457D-A62C-0858C2DD3E50}"/>
                </c:ext>
              </c:extLst>
            </c:dLbl>
            <c:dLbl>
              <c:idx val="1"/>
              <c:tx>
                <c:rich>
                  <a:bodyPr/>
                  <a:lstStyle/>
                  <a:p>
                    <a:pPr>
                      <a:defRPr sz="1000" b="0" i="0" u="none" strike="noStrike">
                        <a:solidFill>
                          <a:srgbClr val="000000"/>
                        </a:solidFill>
                        <a:latin typeface="Arial"/>
                      </a:defRPr>
                    </a:pPr>
                    <a:r>
                      <a:rPr lang="en-US" dirty="0"/>
                      <a:t>0 %</a:t>
                    </a:r>
                  </a:p>
                </c:rich>
              </c:tx>
              <c:numFmt formatCode="0%" sourceLinked="0"/>
              <c:spPr/>
              <c:showLegendKey val="0"/>
              <c:showVal val="0"/>
              <c:showCatName val="0"/>
              <c:showSerName val="0"/>
              <c:showPercent val="1"/>
              <c:showBubbleSize val="0"/>
              <c:extLst>
                <c:ext xmlns:c15="http://schemas.microsoft.com/office/drawing/2012/chart" uri="{CE6537A1-D6FC-4f65-9D91-7224C49458BB}">
                  <c15:showDataLabelsRange val="0"/>
                </c:ext>
                <c:ext xmlns:c16="http://schemas.microsoft.com/office/drawing/2014/chart" uri="{C3380CC4-5D6E-409C-BE32-E72D297353CC}">
                  <c16:uniqueId val="{00000003-EBF6-457D-A62C-0858C2DD3E50}"/>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Passed</c:v>
                </c:pt>
                <c:pt idx="1">
                  <c:v>Failed</c:v>
                </c:pt>
              </c:strCache>
            </c:strRef>
          </c:cat>
          <c:val>
            <c:numRef>
              <c:f>Sheet1!$B$2:$B$3</c:f>
              <c:numCache>
                <c:formatCode>General</c:formatCode>
                <c:ptCount val="2"/>
                <c:pt idx="0">
                  <c:v>126</c:v>
                </c:pt>
                <c:pt idx="1">
                  <c:v>0</c:v>
                </c:pt>
              </c:numCache>
            </c:numRef>
          </c:val>
          <c:extLst>
            <c:ext xmlns:c16="http://schemas.microsoft.com/office/drawing/2014/chart" uri="{C3380CC4-5D6E-409C-BE32-E72D297353CC}">
              <c16:uniqueId val="{00000004-EBF6-457D-A62C-0858C2DD3E50}"/>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r"/>
      <c:overlay val="0"/>
      <c:txPr>
        <a:bodyPr/>
        <a:lstStyle/>
        <a:p>
          <a:pPr>
            <a:defRPr sz="1000"/>
          </a:pPr>
          <a:endParaRPr lang="en-US"/>
        </a:p>
      </c:txPr>
    </c:legend>
    <c:plotVisOnly val="1"/>
    <c:dispBlanksAs val="span"/>
    <c:showDLblsOverMax val="1"/>
  </c:chart>
  <c:spPr>
    <a:solidFill>
      <a:srgbClr val="0A0E1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manualLayout>
          <c:layoutTarget val="inner"/>
          <c:xMode val="edge"/>
          <c:yMode val="edge"/>
          <c:x val="7.9070304143715894E-2"/>
          <c:y val="6.773749635462234E-2"/>
          <c:w val="0.84583269063024213"/>
          <c:h val="0.69523412438028576"/>
        </c:manualLayout>
      </c:layout>
      <c:barChart>
        <c:barDir val="col"/>
        <c:grouping val="clustered"/>
        <c:varyColors val="0"/>
        <c:ser>
          <c:idx val="0"/>
          <c:order val="0"/>
          <c:tx>
            <c:strRef>
              <c:f>Sheet1!$B$1</c:f>
              <c:strCache>
                <c:ptCount val="1"/>
                <c:pt idx="0">
                  <c:v>Test Results</c:v>
                </c:pt>
              </c:strCache>
            </c:strRef>
          </c:tx>
          <c:spPr>
            <a:solidFill>
              <a:srgbClr val="00E676"/>
            </a:solidFill>
            <a:effectLst/>
          </c:spPr>
          <c:invertIfNegative val="0"/>
          <c:dPt>
            <c:idx val="0"/>
            <c:invertIfNegative val="0"/>
            <c:bubble3D val="0"/>
            <c:extLst>
              <c:ext xmlns:c16="http://schemas.microsoft.com/office/drawing/2014/chart" uri="{C3380CC4-5D6E-409C-BE32-E72D297353CC}">
                <c16:uniqueId val="{00000001-3B2E-4AE9-AFA4-1B6F51D2C955}"/>
              </c:ext>
            </c:extLst>
          </c:dPt>
          <c:dPt>
            <c:idx val="1"/>
            <c:invertIfNegative val="0"/>
            <c:bubble3D val="0"/>
            <c:spPr>
              <a:solidFill>
                <a:srgbClr val="FF5252"/>
              </a:solidFill>
              <a:effectLst/>
            </c:spPr>
            <c:extLst>
              <c:ext xmlns:c16="http://schemas.microsoft.com/office/drawing/2014/chart" uri="{C3380CC4-5D6E-409C-BE32-E72D297353CC}">
                <c16:uniqueId val="{00000003-3B2E-4AE9-AFA4-1B6F51D2C955}"/>
              </c:ext>
            </c:extLst>
          </c:dPt>
          <c:dPt>
            <c:idx val="2"/>
            <c:invertIfNegative val="0"/>
            <c:bubble3D val="0"/>
            <c:spPr>
              <a:solidFill>
                <a:srgbClr val="FFB300"/>
              </a:solidFill>
              <a:effectLst/>
            </c:spPr>
            <c:extLst>
              <c:ext xmlns:c16="http://schemas.microsoft.com/office/drawing/2014/chart" uri="{C3380CC4-5D6E-409C-BE32-E72D297353CC}">
                <c16:uniqueId val="{00000005-3B2E-4AE9-AFA4-1B6F51D2C955}"/>
              </c:ext>
            </c:extLst>
          </c:dPt>
          <c:dLbls>
            <c:dLbl>
              <c:idx val="4"/>
              <c:tx>
                <c:rich>
                  <a:bodyPr/>
                  <a:lstStyle/>
                  <a:p>
                    <a:r>
                      <a:rPr lang="en-US"/>
                      <a:t>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FD52-41DF-B5B5-8ADFDD6D2566}"/>
                </c:ext>
              </c:extLst>
            </c:dLbl>
            <c:dLbl>
              <c:idx val="5"/>
              <c:tx>
                <c:rich>
                  <a:bodyPr/>
                  <a:lstStyle/>
                  <a:p>
                    <a:r>
                      <a:rPr lang="en-US"/>
                      <a:t>14</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FD52-41DF-B5B5-8ADFDD6D2566}"/>
                </c:ext>
              </c:extLst>
            </c:dLbl>
            <c:numFmt formatCode="#,##0" sourceLinked="0"/>
            <c:spPr>
              <a:noFill/>
              <a:ln>
                <a:noFill/>
              </a:ln>
              <a:effectLst/>
            </c:spPr>
            <c:txPr>
              <a:bodyPr/>
              <a:lstStyle/>
              <a:p>
                <a:pPr>
                  <a:defRPr sz="1200" b="0" i="0" u="none" strike="noStrike">
                    <a:solidFill>
                      <a:srgbClr val="F1F5FB"/>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Passed</c:v>
                </c:pt>
                <c:pt idx="1">
                  <c:v>Failed</c:v>
                </c:pt>
                <c:pt idx="2">
                  <c:v>Bugs</c:v>
                </c:pt>
                <c:pt idx="3">
                  <c:v>Bugs Reported</c:v>
                </c:pt>
                <c:pt idx="4">
                  <c:v>APIs Tested</c:v>
                </c:pt>
                <c:pt idx="5">
                  <c:v>Automated Cases</c:v>
                </c:pt>
              </c:strCache>
            </c:strRef>
          </c:cat>
          <c:val>
            <c:numRef>
              <c:f>Sheet1!$B$2:$B$7</c:f>
              <c:numCache>
                <c:formatCode>General</c:formatCode>
                <c:ptCount val="6"/>
                <c:pt idx="0">
                  <c:v>126</c:v>
                </c:pt>
                <c:pt idx="1">
                  <c:v>0</c:v>
                </c:pt>
                <c:pt idx="2">
                  <c:v>0</c:v>
                </c:pt>
                <c:pt idx="3">
                  <c:v>0</c:v>
                </c:pt>
                <c:pt idx="4">
                  <c:v>12</c:v>
                </c:pt>
                <c:pt idx="5">
                  <c:v>12</c:v>
                </c:pt>
              </c:numCache>
            </c:numRef>
          </c:val>
          <c:extLst>
            <c:ext xmlns:c16="http://schemas.microsoft.com/office/drawing/2014/chart" uri="{C3380CC4-5D6E-409C-BE32-E72D297353CC}">
              <c16:uniqueId val="{00000006-3B2E-4AE9-AFA4-1B6F51D2C955}"/>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8892A4"/>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1E2D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8892A4"/>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0A0E1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Pass/Fail</c:v>
                </c:pt>
              </c:strCache>
            </c:strRef>
          </c:tx>
          <c:spPr>
            <a:solidFill>
              <a:schemeClr val="accent1"/>
            </a:solidFill>
            <a:ln w="9525" cap="flat">
              <a:solidFill>
                <a:srgbClr val="F9F9F9"/>
              </a:solidFill>
              <a:prstDash val="solid"/>
              <a:round/>
            </a:ln>
            <a:effectLst/>
          </c:spPr>
          <c:dPt>
            <c:idx val="0"/>
            <c:bubble3D val="0"/>
            <c:spPr>
              <a:solidFill>
                <a:srgbClr val="00E676"/>
              </a:solidFill>
              <a:effectLst/>
            </c:spPr>
            <c:extLst>
              <c:ext xmlns:c16="http://schemas.microsoft.com/office/drawing/2014/chart" uri="{C3380CC4-5D6E-409C-BE32-E72D297353CC}">
                <c16:uniqueId val="{00000001-A8FC-4C36-872A-0319713CEDE8}"/>
              </c:ext>
            </c:extLst>
          </c:dPt>
          <c:dPt>
            <c:idx val="1"/>
            <c:bubble3D val="0"/>
            <c:spPr>
              <a:solidFill>
                <a:srgbClr val="FF5252"/>
              </a:solidFill>
              <a:effectLst/>
            </c:spPr>
            <c:extLst>
              <c:ext xmlns:c16="http://schemas.microsoft.com/office/drawing/2014/chart" uri="{C3380CC4-5D6E-409C-BE32-E72D297353CC}">
                <c16:uniqueId val="{00000003-A8FC-4C36-872A-0319713CEDE8}"/>
              </c:ext>
            </c:extLst>
          </c:dPt>
          <c:dLbls>
            <c:dLbl>
              <c:idx val="0"/>
              <c:numFmt formatCode="0%" sourceLinked="0"/>
              <c:spPr/>
              <c:txPr>
                <a:bodyPr/>
                <a:lstStyle/>
                <a:p>
                  <a:pPr>
                    <a:defRPr sz="11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A8FC-4C36-872A-0319713CEDE8}"/>
                </c:ext>
              </c:extLst>
            </c:dLbl>
            <c:dLbl>
              <c:idx val="1"/>
              <c:numFmt formatCode="0%" sourceLinked="0"/>
              <c:spPr/>
              <c:txPr>
                <a:bodyPr/>
                <a:lstStyle/>
                <a:p>
                  <a:pPr>
                    <a:defRPr sz="1100" b="0" i="0" u="none" strike="noStrike">
                      <a:solidFill>
                        <a:srgbClr val="000000"/>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A8FC-4C36-872A-0319713CEDE8}"/>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Passed (74.7%)</c:v>
                </c:pt>
                <c:pt idx="1">
                  <c:v>Failed (25.3%)</c:v>
                </c:pt>
              </c:strCache>
            </c:strRef>
          </c:cat>
          <c:val>
            <c:numRef>
              <c:f>Sheet1!$B$2:$B$3</c:f>
              <c:numCache>
                <c:formatCode>General</c:formatCode>
                <c:ptCount val="2"/>
                <c:pt idx="0">
                  <c:v>126</c:v>
                </c:pt>
                <c:pt idx="1">
                  <c:v>0</c:v>
                </c:pt>
              </c:numCache>
            </c:numRef>
          </c:val>
          <c:extLst>
            <c:ext xmlns:c16="http://schemas.microsoft.com/office/drawing/2014/chart" uri="{C3380CC4-5D6E-409C-BE32-E72D297353CC}">
              <c16:uniqueId val="{00000004-A8FC-4C36-872A-0319713CEDE8}"/>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000"/>
          </a:pPr>
          <a:endParaRPr lang="en-US"/>
        </a:p>
      </c:txPr>
    </c:legend>
    <c:plotVisOnly val="1"/>
    <c:dispBlanksAs val="span"/>
    <c:showDLblsOverMax val="1"/>
  </c:chart>
  <c:spPr>
    <a:solidFill>
      <a:srgbClr val="0A0E1A"/>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92413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chart" Target="../charts/char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chart" Target="../charts/chart3.xml"/><Relationship Id="rId5" Type="http://schemas.openxmlformats.org/officeDocument/2006/relationships/chart" Target="../charts/char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a:effectLst/>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6C63FF"/>
          </a:solidFill>
          <a:ln w="12700">
            <a:solidFill>
              <a:srgbClr val="6C63FF"/>
            </a:solidFill>
            <a:prstDash val="solid"/>
          </a:ln>
        </p:spPr>
        <p:txBody>
          <a:bodyPr/>
          <a:lstStyle/>
          <a:p>
            <a:endParaRPr lang="en-US"/>
          </a:p>
        </p:txBody>
      </p:sp>
      <p:sp>
        <p:nvSpPr>
          <p:cNvPr id="3" name="Shape 1"/>
          <p:cNvSpPr/>
          <p:nvPr/>
        </p:nvSpPr>
        <p:spPr>
          <a:xfrm>
            <a:off x="7132320" y="-548640"/>
            <a:ext cx="2560320" cy="2560320"/>
          </a:xfrm>
          <a:prstGeom prst="ellipse">
            <a:avLst/>
          </a:prstGeom>
          <a:solidFill>
            <a:srgbClr val="6C63FF">
              <a:alpha val="15000"/>
            </a:srgbClr>
          </a:solidFill>
          <a:ln w="12700">
            <a:solidFill>
              <a:srgbClr val="6C63FF"/>
            </a:solidFill>
            <a:prstDash val="solid"/>
          </a:ln>
        </p:spPr>
        <p:txBody>
          <a:bodyPr/>
          <a:lstStyle/>
          <a:p>
            <a:endParaRPr lang="en-US"/>
          </a:p>
        </p:txBody>
      </p:sp>
      <p:sp>
        <p:nvSpPr>
          <p:cNvPr id="4" name="Shape 2"/>
          <p:cNvSpPr/>
          <p:nvPr/>
        </p:nvSpPr>
        <p:spPr>
          <a:xfrm>
            <a:off x="7772400" y="-182880"/>
            <a:ext cx="1463040" cy="1463040"/>
          </a:xfrm>
          <a:prstGeom prst="ellipse">
            <a:avLst/>
          </a:prstGeom>
          <a:solidFill>
            <a:srgbClr val="4FC3F7">
              <a:alpha val="20000"/>
            </a:srgbClr>
          </a:solidFill>
          <a:ln w="12700">
            <a:solidFill>
              <a:srgbClr val="4FC3F7"/>
            </a:solidFill>
            <a:prstDash val="solid"/>
          </a:ln>
        </p:spPr>
        <p:txBody>
          <a:bodyPr/>
          <a:lstStyle/>
          <a:p>
            <a:endParaRPr lang="en-US"/>
          </a:p>
        </p:txBody>
      </p:sp>
      <p:sp>
        <p:nvSpPr>
          <p:cNvPr id="5" name="Shape 3"/>
          <p:cNvSpPr/>
          <p:nvPr/>
        </p:nvSpPr>
        <p:spPr>
          <a:xfrm>
            <a:off x="-457200" y="3840480"/>
            <a:ext cx="2011680" cy="2011680"/>
          </a:xfrm>
          <a:prstGeom prst="ellipse">
            <a:avLst/>
          </a:prstGeom>
          <a:solidFill>
            <a:srgbClr val="4FC3F7">
              <a:alpha val="12000"/>
            </a:srgbClr>
          </a:solidFill>
          <a:ln w="12700">
            <a:solidFill>
              <a:srgbClr val="4FC3F7"/>
            </a:solidFill>
            <a:prstDash val="solid"/>
          </a:ln>
        </p:spPr>
        <p:txBody>
          <a:bodyPr/>
          <a:lstStyle/>
          <a:p>
            <a:endParaRPr lang="en-US"/>
          </a:p>
        </p:txBody>
      </p:sp>
      <p:sp>
        <p:nvSpPr>
          <p:cNvPr id="6" name="Shape 4"/>
          <p:cNvSpPr/>
          <p:nvPr/>
        </p:nvSpPr>
        <p:spPr>
          <a:xfrm>
            <a:off x="548640" y="2468880"/>
            <a:ext cx="4114800" cy="0"/>
          </a:xfrm>
          <a:prstGeom prst="line">
            <a:avLst/>
          </a:prstGeom>
          <a:noFill/>
          <a:ln w="19050">
            <a:solidFill>
              <a:srgbClr val="6C63FF"/>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8"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9" name="Text 5"/>
          <p:cNvSpPr/>
          <p:nvPr/>
        </p:nvSpPr>
        <p:spPr>
          <a:xfrm>
            <a:off x="914400" y="320040"/>
            <a:ext cx="7315200" cy="365760"/>
          </a:xfrm>
          <a:prstGeom prst="rect">
            <a:avLst/>
          </a:prstGeom>
          <a:noFill/>
          <a:ln/>
        </p:spPr>
        <p:txBody>
          <a:bodyPr wrap="square" rtlCol="0" anchor="ctr"/>
          <a:lstStyle/>
          <a:p>
            <a:pPr marL="0" indent="0">
              <a:buNone/>
            </a:pPr>
            <a:r>
              <a:rPr lang="en-US" sz="1100" kern="0" spc="300" dirty="0">
                <a:solidFill>
                  <a:srgbClr val="4FC3F7"/>
                </a:solidFill>
                <a:latin typeface="Calibri" pitchFamily="34" charset="0"/>
                <a:ea typeface="Calibri" pitchFamily="34" charset="-122"/>
                <a:cs typeface="Calibri" pitchFamily="34" charset="-120"/>
              </a:rPr>
              <a:t>ITC — Information Technology Colleague</a:t>
            </a:r>
            <a:endParaRPr lang="en-US" sz="1100" dirty="0"/>
          </a:p>
        </p:txBody>
      </p:sp>
      <p:sp>
        <p:nvSpPr>
          <p:cNvPr id="10" name="Text 6"/>
          <p:cNvSpPr/>
          <p:nvPr/>
        </p:nvSpPr>
        <p:spPr>
          <a:xfrm>
            <a:off x="914400" y="658368"/>
            <a:ext cx="457200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رواد مصر الرقمية</a:t>
            </a:r>
            <a:endParaRPr lang="en-US" sz="1100" dirty="0"/>
          </a:p>
        </p:txBody>
      </p:sp>
      <p:sp>
        <p:nvSpPr>
          <p:cNvPr id="11" name="Text 7"/>
          <p:cNvSpPr/>
          <p:nvPr/>
        </p:nvSpPr>
        <p:spPr>
          <a:xfrm>
            <a:off x="548640" y="1051560"/>
            <a:ext cx="7772400" cy="777240"/>
          </a:xfrm>
          <a:prstGeom prst="rect">
            <a:avLst/>
          </a:prstGeom>
          <a:noFill/>
          <a:ln/>
        </p:spPr>
        <p:txBody>
          <a:bodyPr wrap="square" rtlCol="0" anchor="ctr"/>
          <a:lstStyle/>
          <a:p>
            <a:pPr marL="0" indent="0">
              <a:buNone/>
            </a:pPr>
            <a:r>
              <a:rPr lang="en-US" sz="5800" b="1" kern="0" spc="200" dirty="0">
                <a:solidFill>
                  <a:srgbClr val="F1F5FB"/>
                </a:solidFill>
                <a:latin typeface="Calibri" pitchFamily="34" charset="0"/>
                <a:ea typeface="Calibri" pitchFamily="34" charset="-122"/>
                <a:cs typeface="Calibri" pitchFamily="34" charset="-120"/>
              </a:rPr>
              <a:t>GRADUATION</a:t>
            </a:r>
            <a:endParaRPr lang="en-US" sz="5800" dirty="0"/>
          </a:p>
        </p:txBody>
      </p:sp>
      <p:sp>
        <p:nvSpPr>
          <p:cNvPr id="12" name="Text 8"/>
          <p:cNvSpPr/>
          <p:nvPr/>
        </p:nvSpPr>
        <p:spPr>
          <a:xfrm>
            <a:off x="548640" y="1755648"/>
            <a:ext cx="7772400" cy="777240"/>
          </a:xfrm>
          <a:prstGeom prst="rect">
            <a:avLst/>
          </a:prstGeom>
          <a:noFill/>
          <a:ln/>
        </p:spPr>
        <p:txBody>
          <a:bodyPr wrap="square" rtlCol="0" anchor="ctr"/>
          <a:lstStyle/>
          <a:p>
            <a:pPr marL="0" indent="0">
              <a:buNone/>
            </a:pPr>
            <a:r>
              <a:rPr lang="en-US" sz="5800" b="1" kern="0" spc="200" dirty="0">
                <a:solidFill>
                  <a:srgbClr val="6C63FF"/>
                </a:solidFill>
                <a:latin typeface="Calibri" pitchFamily="34" charset="0"/>
                <a:ea typeface="Calibri" pitchFamily="34" charset="-122"/>
                <a:cs typeface="Calibri" pitchFamily="34" charset="-120"/>
              </a:rPr>
              <a:t>PROJECT</a:t>
            </a:r>
            <a:endParaRPr lang="en-US" sz="5800" dirty="0"/>
          </a:p>
        </p:txBody>
      </p:sp>
      <p:sp>
        <p:nvSpPr>
          <p:cNvPr id="13" name="Text 9"/>
          <p:cNvSpPr/>
          <p:nvPr/>
        </p:nvSpPr>
        <p:spPr>
          <a:xfrm>
            <a:off x="548640" y="2651760"/>
            <a:ext cx="5486400" cy="411480"/>
          </a:xfrm>
          <a:prstGeom prst="rect">
            <a:avLst/>
          </a:prstGeom>
          <a:noFill/>
          <a:ln/>
        </p:spPr>
        <p:txBody>
          <a:bodyPr wrap="square" rtlCol="0" anchor="ctr"/>
          <a:lstStyle/>
          <a:p>
            <a:pPr marL="0" indent="0">
              <a:buNone/>
            </a:pPr>
            <a:r>
              <a:rPr lang="en-US" sz="1400" kern="0" spc="100" dirty="0">
                <a:solidFill>
                  <a:srgbClr val="8892A4"/>
                </a:solidFill>
                <a:latin typeface="Calibri" pitchFamily="34" charset="0"/>
                <a:ea typeface="Calibri" pitchFamily="34" charset="-122"/>
                <a:cs typeface="Calibri" pitchFamily="34" charset="-120"/>
              </a:rPr>
              <a:t>Manual Testing •  API Testing  •  Automation Testing</a:t>
            </a:r>
            <a:endParaRPr lang="en-US" sz="1400" dirty="0"/>
          </a:p>
        </p:txBody>
      </p:sp>
      <p:sp>
        <p:nvSpPr>
          <p:cNvPr id="14" name="Shape 10"/>
          <p:cNvSpPr/>
          <p:nvPr/>
        </p:nvSpPr>
        <p:spPr>
          <a:xfrm>
            <a:off x="548640" y="4187952"/>
            <a:ext cx="1828800" cy="365760"/>
          </a:xfrm>
          <a:prstGeom prst="roundRect">
            <a:avLst>
              <a:gd name="adj" fmla="val 12500"/>
            </a:avLst>
          </a:prstGeom>
          <a:solidFill>
            <a:srgbClr val="6C63FF">
              <a:alpha val="20000"/>
            </a:srgbClr>
          </a:solidFill>
          <a:ln w="12700">
            <a:solidFill>
              <a:srgbClr val="6C63FF"/>
            </a:solidFill>
            <a:prstDash val="solid"/>
          </a:ln>
        </p:spPr>
        <p:txBody>
          <a:bodyPr/>
          <a:lstStyle/>
          <a:p>
            <a:endParaRPr lang="en-US"/>
          </a:p>
        </p:txBody>
      </p:sp>
      <p:sp>
        <p:nvSpPr>
          <p:cNvPr id="15" name="Text 11"/>
          <p:cNvSpPr/>
          <p:nvPr/>
        </p:nvSpPr>
        <p:spPr>
          <a:xfrm>
            <a:off x="548640" y="4187952"/>
            <a:ext cx="1828800" cy="365760"/>
          </a:xfrm>
          <a:prstGeom prst="rect">
            <a:avLst/>
          </a:prstGeom>
          <a:noFill/>
          <a:ln/>
        </p:spPr>
        <p:txBody>
          <a:bodyPr wrap="square" rtlCol="0" anchor="ctr"/>
          <a:lstStyle/>
          <a:p>
            <a:pPr marL="0" indent="0" algn="ctr">
              <a:buNone/>
            </a:pPr>
            <a:r>
              <a:rPr lang="en-US" sz="1100" b="1" dirty="0">
                <a:solidFill>
                  <a:srgbClr val="6C63FF"/>
                </a:solidFill>
                <a:latin typeface="Calibri" pitchFamily="34" charset="0"/>
                <a:ea typeface="Calibri" pitchFamily="34" charset="-122"/>
                <a:cs typeface="Calibri" pitchFamily="34" charset="-120"/>
              </a:rPr>
              <a:t>Testing</a:t>
            </a:r>
            <a:endParaRPr lang="en-US" sz="1100" dirty="0"/>
          </a:p>
        </p:txBody>
      </p:sp>
      <p:sp>
        <p:nvSpPr>
          <p:cNvPr id="16" name="Shape 12"/>
          <p:cNvSpPr/>
          <p:nvPr/>
        </p:nvSpPr>
        <p:spPr>
          <a:xfrm>
            <a:off x="2651760" y="4187952"/>
            <a:ext cx="1828800" cy="365760"/>
          </a:xfrm>
          <a:prstGeom prst="roundRect">
            <a:avLst>
              <a:gd name="adj" fmla="val 12500"/>
            </a:avLst>
          </a:prstGeom>
          <a:solidFill>
            <a:srgbClr val="4FC3F7">
              <a:alpha val="20000"/>
            </a:srgbClr>
          </a:solidFill>
          <a:ln w="12700">
            <a:solidFill>
              <a:srgbClr val="4FC3F7"/>
            </a:solidFill>
            <a:prstDash val="solid"/>
          </a:ln>
        </p:spPr>
        <p:txBody>
          <a:bodyPr/>
          <a:lstStyle/>
          <a:p>
            <a:endParaRPr lang="en-US"/>
          </a:p>
        </p:txBody>
      </p:sp>
      <p:sp>
        <p:nvSpPr>
          <p:cNvPr id="17" name="Text 13"/>
          <p:cNvSpPr/>
          <p:nvPr/>
        </p:nvSpPr>
        <p:spPr>
          <a:xfrm>
            <a:off x="2651760" y="4187952"/>
            <a:ext cx="1828800" cy="365760"/>
          </a:xfrm>
          <a:prstGeom prst="rect">
            <a:avLst/>
          </a:prstGeom>
          <a:noFill/>
          <a:ln/>
        </p:spPr>
        <p:txBody>
          <a:bodyPr wrap="square" rtlCol="0" anchor="ctr"/>
          <a:lstStyle/>
          <a:p>
            <a:pPr marL="0" indent="0" algn="ctr">
              <a:buNone/>
            </a:pPr>
            <a:r>
              <a:rPr lang="en-US" sz="1100" b="1" dirty="0">
                <a:solidFill>
                  <a:srgbClr val="4FC3F7"/>
                </a:solidFill>
                <a:latin typeface="Calibri" pitchFamily="34" charset="0"/>
                <a:ea typeface="Calibri" pitchFamily="34" charset="-122"/>
                <a:cs typeface="Calibri" pitchFamily="34" charset="-120"/>
              </a:rPr>
              <a:t>QA Engineering</a:t>
            </a:r>
            <a:endParaRPr lang="en-US" sz="1100" dirty="0"/>
          </a:p>
        </p:txBody>
      </p:sp>
      <p:sp>
        <p:nvSpPr>
          <p:cNvPr id="18" name="Shape 14"/>
          <p:cNvSpPr/>
          <p:nvPr/>
        </p:nvSpPr>
        <p:spPr>
          <a:xfrm>
            <a:off x="4754880" y="4187952"/>
            <a:ext cx="1828800" cy="365760"/>
          </a:xfrm>
          <a:prstGeom prst="roundRect">
            <a:avLst>
              <a:gd name="adj" fmla="val 12500"/>
            </a:avLst>
          </a:prstGeom>
          <a:solidFill>
            <a:srgbClr val="00E676">
              <a:alpha val="20000"/>
            </a:srgbClr>
          </a:solidFill>
          <a:ln w="12700">
            <a:solidFill>
              <a:srgbClr val="00E676"/>
            </a:solidFill>
            <a:prstDash val="solid"/>
          </a:ln>
        </p:spPr>
        <p:txBody>
          <a:bodyPr/>
          <a:lstStyle/>
          <a:p>
            <a:endParaRPr lang="en-US"/>
          </a:p>
        </p:txBody>
      </p:sp>
      <p:sp>
        <p:nvSpPr>
          <p:cNvPr id="19" name="Text 15"/>
          <p:cNvSpPr/>
          <p:nvPr/>
        </p:nvSpPr>
        <p:spPr>
          <a:xfrm>
            <a:off x="4754880" y="4187952"/>
            <a:ext cx="1828800" cy="365760"/>
          </a:xfrm>
          <a:prstGeom prst="rect">
            <a:avLst/>
          </a:prstGeom>
          <a:noFill/>
          <a:ln/>
        </p:spPr>
        <p:txBody>
          <a:bodyPr wrap="square" rtlCol="0" anchor="ctr"/>
          <a:lstStyle/>
          <a:p>
            <a:pPr marL="0" indent="0" algn="ctr">
              <a:buNone/>
            </a:pPr>
            <a:r>
              <a:rPr lang="en-US" sz="1100" b="1" dirty="0">
                <a:solidFill>
                  <a:srgbClr val="00E676"/>
                </a:solidFill>
                <a:latin typeface="Calibri" pitchFamily="34" charset="0"/>
                <a:ea typeface="Calibri" pitchFamily="34" charset="-122"/>
                <a:cs typeface="Calibri" pitchFamily="34" charset="-120"/>
              </a:rPr>
              <a:t>2025 / 2026</a:t>
            </a:r>
            <a:endParaRPr lang="en-US" sz="1100" dirty="0"/>
          </a:p>
        </p:txBody>
      </p:sp>
      <p:sp>
        <p:nvSpPr>
          <p:cNvPr id="20" name="Shape 16"/>
          <p:cNvSpPr/>
          <p:nvPr/>
        </p:nvSpPr>
        <p:spPr>
          <a:xfrm>
            <a:off x="6903720" y="4069080"/>
            <a:ext cx="2148840" cy="621792"/>
          </a:xfrm>
          <a:prstGeom prst="roundRect">
            <a:avLst>
              <a:gd name="adj" fmla="val 11765"/>
            </a:avLst>
          </a:prstGeom>
          <a:solidFill>
            <a:srgbClr val="6C63FF">
              <a:alpha val="85000"/>
            </a:srgbClr>
          </a:solidFill>
          <a:ln w="19050">
            <a:solidFill>
              <a:srgbClr val="6C63FF"/>
            </a:solidFill>
            <a:prstDash val="solid"/>
          </a:ln>
        </p:spPr>
        <p:txBody>
          <a:bodyPr/>
          <a:lstStyle/>
          <a:p>
            <a:endParaRPr lang="en-US"/>
          </a:p>
        </p:txBody>
      </p:sp>
      <p:sp>
        <p:nvSpPr>
          <p:cNvPr id="21" name="Text 17"/>
          <p:cNvSpPr/>
          <p:nvPr/>
        </p:nvSpPr>
        <p:spPr>
          <a:xfrm>
            <a:off x="6903720" y="4087368"/>
            <a:ext cx="2148840" cy="310896"/>
          </a:xfrm>
          <a:prstGeom prst="rect">
            <a:avLst/>
          </a:prstGeom>
          <a:noFill/>
          <a:ln/>
        </p:spPr>
        <p:txBody>
          <a:bodyPr wrap="square" rtlCol="0" anchor="ctr"/>
          <a:lstStyle/>
          <a:p>
            <a:pPr algn="ctr"/>
            <a:r>
              <a:rPr lang="en-US" sz="1200" b="1" kern="0" spc="100" dirty="0">
                <a:solidFill>
                  <a:srgbClr val="F1F5FB"/>
                </a:solidFill>
                <a:latin typeface="Calibri" pitchFamily="34" charset="0"/>
                <a:ea typeface="Calibri" pitchFamily="34" charset="-122"/>
                <a:cs typeface="Calibri" pitchFamily="34" charset="-120"/>
              </a:rPr>
              <a:t>ITC_CAI4_SWD6_S7</a:t>
            </a:r>
            <a:endParaRPr lang="en-US" sz="1200" dirty="0"/>
          </a:p>
        </p:txBody>
      </p:sp>
      <p:sp>
        <p:nvSpPr>
          <p:cNvPr id="22" name="Text 18"/>
          <p:cNvSpPr/>
          <p:nvPr/>
        </p:nvSpPr>
        <p:spPr>
          <a:xfrm>
            <a:off x="6903720" y="4398264"/>
            <a:ext cx="2148840" cy="256032"/>
          </a:xfrm>
          <a:prstGeom prst="rect">
            <a:avLst/>
          </a:prstGeom>
          <a:noFill/>
          <a:ln/>
        </p:spPr>
        <p:txBody>
          <a:bodyPr wrap="square" rtlCol="0" anchor="ctr"/>
          <a:lstStyle/>
          <a:p>
            <a:pPr marL="0" indent="0" algn="ctr">
              <a:buNone/>
            </a:pPr>
            <a:r>
              <a:rPr lang="en-US" sz="1000" dirty="0">
                <a:solidFill>
                  <a:srgbClr val="4FC3F7"/>
                </a:solidFill>
                <a:latin typeface="Calibri" pitchFamily="34" charset="0"/>
                <a:ea typeface="Calibri" pitchFamily="34" charset="-122"/>
                <a:cs typeface="Calibri" pitchFamily="34" charset="-120"/>
              </a:rPr>
              <a:t>Cairo Software Testing</a:t>
            </a:r>
            <a:endParaRPr lang="en-US" sz="1000" dirty="0"/>
          </a:p>
        </p:txBody>
      </p:sp>
      <p:sp>
        <p:nvSpPr>
          <p:cNvPr id="23" name="Shape 19"/>
          <p:cNvSpPr/>
          <p:nvPr/>
        </p:nvSpPr>
        <p:spPr>
          <a:xfrm>
            <a:off x="0" y="4773168"/>
            <a:ext cx="9144000" cy="370332"/>
          </a:xfrm>
          <a:prstGeom prst="rect">
            <a:avLst/>
          </a:prstGeom>
          <a:solidFill>
            <a:srgbClr val="141B2D"/>
          </a:solidFill>
          <a:ln w="12700">
            <a:solidFill>
              <a:srgbClr val="1E2D4A"/>
            </a:solidFill>
            <a:prstDash val="solid"/>
          </a:ln>
        </p:spPr>
        <p:txBody>
          <a:bodyPr/>
          <a:lstStyle/>
          <a:p>
            <a:endParaRPr lang="en-US"/>
          </a:p>
        </p:txBody>
      </p:sp>
      <p:sp>
        <p:nvSpPr>
          <p:cNvPr id="24" name="Text 20"/>
          <p:cNvSpPr/>
          <p:nvPr/>
        </p:nvSpPr>
        <p:spPr>
          <a:xfrm>
            <a:off x="274320" y="4773168"/>
            <a:ext cx="8595360" cy="370332"/>
          </a:xfrm>
          <a:prstGeom prst="rect">
            <a:avLst/>
          </a:prstGeom>
          <a:noFill/>
          <a:ln/>
        </p:spPr>
        <p:txBody>
          <a:bodyPr wrap="square" rtlCol="0" anchor="ctr"/>
          <a:lstStyle/>
          <a:p>
            <a:pPr algn="ctr"/>
            <a:r>
              <a:rPr lang="en-US" sz="1200" dirty="0">
                <a:solidFill>
                  <a:schemeClr val="accent4"/>
                </a:solidFill>
              </a:rPr>
              <a:t>Thanks and appreciation to the initiative's management and to ITC, the company implementing the Software Testing Cairo track.</a:t>
            </a:r>
          </a:p>
        </p:txBody>
      </p:sp>
    </p:spTree>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155448" y="0"/>
            <a:ext cx="2926080" cy="5275940"/>
          </a:xfrm>
          <a:prstGeom prst="rect">
            <a:avLst/>
          </a:prstGeom>
          <a:solidFill>
            <a:srgbClr val="141B2D"/>
          </a:solidFill>
          <a:ln w="12700">
            <a:solidFill>
              <a:srgbClr val="1E2D4A"/>
            </a:solidFill>
            <a:prstDash val="solid"/>
          </a:ln>
        </p:spPr>
        <p:txBody>
          <a:bodyPr/>
          <a:lstStyle/>
          <a:p>
            <a:endParaRPr lang="en-US"/>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54864" cy="5143500"/>
          </a:xfrm>
          <a:prstGeom prst="rect">
            <a:avLst/>
          </a:prstGeom>
          <a:solidFill>
            <a:srgbClr val="6C63FF"/>
          </a:solidFill>
          <a:ln w="12700">
            <a:solidFill>
              <a:srgbClr val="6C63FF"/>
            </a:solidFill>
            <a:prstDash val="solid"/>
          </a:ln>
        </p:spPr>
        <p:txBody>
          <a:bodyPr/>
          <a:lstStyle/>
          <a:p>
            <a:endParaRPr lang="en-US"/>
          </a:p>
        </p:txBody>
      </p:sp>
      <p:sp>
        <p:nvSpPr>
          <p:cNvPr id="6" name="Text 2"/>
          <p:cNvSpPr/>
          <p:nvPr/>
        </p:nvSpPr>
        <p:spPr>
          <a:xfrm>
            <a:off x="768096" y="91221"/>
            <a:ext cx="2560320" cy="534924"/>
          </a:xfrm>
          <a:prstGeom prst="rect">
            <a:avLst/>
          </a:prstGeom>
          <a:noFill/>
          <a:ln/>
        </p:spPr>
        <p:txBody>
          <a:bodyPr wrap="square" rtlCol="0" anchor="ctr"/>
          <a:lstStyle/>
          <a:p>
            <a:pPr marL="0" indent="0">
              <a:buNone/>
            </a:pPr>
            <a:r>
              <a:rPr lang="en-US" sz="2800" b="1" kern="0" spc="300" dirty="0">
                <a:solidFill>
                  <a:srgbClr val="F1F5FB"/>
                </a:solidFill>
                <a:latin typeface="Calibri" pitchFamily="34" charset="0"/>
                <a:ea typeface="Calibri" pitchFamily="34" charset="-122"/>
                <a:cs typeface="Calibri" pitchFamily="34" charset="-120"/>
              </a:rPr>
              <a:t>AGENDA</a:t>
            </a:r>
            <a:endParaRPr lang="en-US" sz="2800" dirty="0"/>
          </a:p>
        </p:txBody>
      </p:sp>
      <p:sp>
        <p:nvSpPr>
          <p:cNvPr id="7" name="Text 3"/>
          <p:cNvSpPr/>
          <p:nvPr/>
        </p:nvSpPr>
        <p:spPr>
          <a:xfrm>
            <a:off x="118872" y="612757"/>
            <a:ext cx="2560320" cy="365760"/>
          </a:xfrm>
          <a:prstGeom prst="rect">
            <a:avLst/>
          </a:prstGeom>
          <a:noFill/>
          <a:ln/>
        </p:spPr>
        <p:txBody>
          <a:bodyPr wrap="square" rtlCol="0" anchor="ctr"/>
          <a:lstStyle/>
          <a:p>
            <a:pPr marL="0" indent="0">
              <a:buNone/>
            </a:pPr>
            <a:r>
              <a:rPr lang="en-US" sz="1000" dirty="0">
                <a:solidFill>
                  <a:srgbClr val="8892A4"/>
                </a:solidFill>
                <a:latin typeface="Calibri" pitchFamily="34" charset="0"/>
                <a:ea typeface="Calibri" pitchFamily="34" charset="-122"/>
                <a:cs typeface="Calibri" pitchFamily="34" charset="-120"/>
              </a:rPr>
              <a:t>What we'll cover today</a:t>
            </a:r>
            <a:endParaRPr lang="en-US" sz="1000" dirty="0"/>
          </a:p>
        </p:txBody>
      </p:sp>
      <p:sp>
        <p:nvSpPr>
          <p:cNvPr id="8" name="Shape 4"/>
          <p:cNvSpPr/>
          <p:nvPr/>
        </p:nvSpPr>
        <p:spPr>
          <a:xfrm>
            <a:off x="118872" y="978517"/>
            <a:ext cx="2377440" cy="0"/>
          </a:xfrm>
          <a:prstGeom prst="line">
            <a:avLst/>
          </a:prstGeom>
          <a:noFill/>
          <a:ln w="12700">
            <a:solidFill>
              <a:srgbClr val="6C63FF"/>
            </a:solidFill>
            <a:prstDash val="solid"/>
          </a:ln>
        </p:spPr>
        <p:txBody>
          <a:bodyPr/>
          <a:lstStyle/>
          <a:p>
            <a:endParaRPr lang="en-US"/>
          </a:p>
        </p:txBody>
      </p:sp>
      <p:sp>
        <p:nvSpPr>
          <p:cNvPr id="9" name="Shape 5"/>
          <p:cNvSpPr/>
          <p:nvPr/>
        </p:nvSpPr>
        <p:spPr>
          <a:xfrm>
            <a:off x="100584" y="1161397"/>
            <a:ext cx="2514600" cy="420624"/>
          </a:xfrm>
          <a:prstGeom prst="roundRect">
            <a:avLst>
              <a:gd name="adj" fmla="val 10870"/>
            </a:avLst>
          </a:prstGeom>
          <a:solidFill>
            <a:srgbClr val="6C63FF"/>
          </a:solidFill>
          <a:ln w="12700">
            <a:solidFill>
              <a:srgbClr val="6C63FF"/>
            </a:solidFill>
            <a:prstDash val="solid"/>
          </a:ln>
        </p:spPr>
        <p:txBody>
          <a:bodyPr/>
          <a:lstStyle/>
          <a:p>
            <a:endParaRPr lang="en-US"/>
          </a:p>
        </p:txBody>
      </p:sp>
      <p:sp>
        <p:nvSpPr>
          <p:cNvPr id="10" name="Text 6"/>
          <p:cNvSpPr/>
          <p:nvPr/>
        </p:nvSpPr>
        <p:spPr>
          <a:xfrm>
            <a:off x="137160" y="1161397"/>
            <a:ext cx="2468880" cy="420624"/>
          </a:xfrm>
          <a:prstGeom prst="rect">
            <a:avLst/>
          </a:prstGeom>
          <a:noFill/>
          <a:ln/>
        </p:spPr>
        <p:txBody>
          <a:bodyPr wrap="square" lIns="101600" tIns="101600" rIns="101600" bIns="101600" rtlCol="0" anchor="ctr"/>
          <a:lstStyle/>
          <a:p>
            <a:pPr marL="0" indent="0">
              <a:buNone/>
            </a:pPr>
            <a:r>
              <a:rPr lang="en-US" sz="1200" b="1" dirty="0">
                <a:solidFill>
                  <a:srgbClr val="F1F5FB"/>
                </a:solidFill>
                <a:latin typeface="Calibri" pitchFamily="34" charset="0"/>
                <a:ea typeface="Calibri" pitchFamily="34" charset="-122"/>
                <a:cs typeface="Calibri" pitchFamily="34" charset="-120"/>
              </a:rPr>
              <a:t>01  Introduction</a:t>
            </a:r>
            <a:endParaRPr lang="en-US" sz="1200" dirty="0"/>
          </a:p>
        </p:txBody>
      </p:sp>
      <p:sp>
        <p:nvSpPr>
          <p:cNvPr id="11" name="Shape 7"/>
          <p:cNvSpPr/>
          <p:nvPr/>
        </p:nvSpPr>
        <p:spPr>
          <a:xfrm>
            <a:off x="100584" y="1673461"/>
            <a:ext cx="2514600" cy="420624"/>
          </a:xfrm>
          <a:prstGeom prst="roundRect">
            <a:avLst>
              <a:gd name="adj" fmla="val 10870"/>
            </a:avLst>
          </a:prstGeom>
          <a:solidFill>
            <a:srgbClr val="0F1526"/>
          </a:solidFill>
          <a:ln w="12700">
            <a:solidFill>
              <a:srgbClr val="1E2D4A"/>
            </a:solidFill>
            <a:prstDash val="solid"/>
          </a:ln>
        </p:spPr>
        <p:txBody>
          <a:bodyPr/>
          <a:lstStyle/>
          <a:p>
            <a:endParaRPr lang="en-US" dirty="0"/>
          </a:p>
        </p:txBody>
      </p:sp>
      <p:sp>
        <p:nvSpPr>
          <p:cNvPr id="12" name="Text 8"/>
          <p:cNvSpPr/>
          <p:nvPr/>
        </p:nvSpPr>
        <p:spPr>
          <a:xfrm>
            <a:off x="137160" y="1673461"/>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02  Project Scope</a:t>
            </a:r>
            <a:endParaRPr lang="en-US" sz="1200" dirty="0"/>
          </a:p>
        </p:txBody>
      </p:sp>
      <p:sp>
        <p:nvSpPr>
          <p:cNvPr id="13" name="Shape 9"/>
          <p:cNvSpPr/>
          <p:nvPr/>
        </p:nvSpPr>
        <p:spPr>
          <a:xfrm>
            <a:off x="100584" y="2185525"/>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14" name="Text 10"/>
          <p:cNvSpPr/>
          <p:nvPr/>
        </p:nvSpPr>
        <p:spPr>
          <a:xfrm>
            <a:off x="137160" y="2185525"/>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03  Testing Strategy</a:t>
            </a:r>
            <a:endParaRPr lang="en-US" sz="1200" dirty="0"/>
          </a:p>
        </p:txBody>
      </p:sp>
      <p:sp>
        <p:nvSpPr>
          <p:cNvPr id="15" name="Shape 11"/>
          <p:cNvSpPr/>
          <p:nvPr/>
        </p:nvSpPr>
        <p:spPr>
          <a:xfrm>
            <a:off x="100584" y="2697589"/>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16" name="Text 12"/>
          <p:cNvSpPr/>
          <p:nvPr/>
        </p:nvSpPr>
        <p:spPr>
          <a:xfrm>
            <a:off x="137160" y="2697589"/>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04  Test Design</a:t>
            </a:r>
            <a:endParaRPr lang="en-US" sz="1200" dirty="0"/>
          </a:p>
        </p:txBody>
      </p:sp>
      <p:sp>
        <p:nvSpPr>
          <p:cNvPr id="17" name="Shape 13"/>
          <p:cNvSpPr/>
          <p:nvPr/>
        </p:nvSpPr>
        <p:spPr>
          <a:xfrm>
            <a:off x="100584" y="3209653"/>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18" name="Text 14"/>
          <p:cNvSpPr/>
          <p:nvPr/>
        </p:nvSpPr>
        <p:spPr>
          <a:xfrm>
            <a:off x="137160" y="3209653"/>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05  API Testing</a:t>
            </a:r>
            <a:endParaRPr lang="en-US" sz="1200" dirty="0"/>
          </a:p>
        </p:txBody>
      </p:sp>
      <p:grpSp>
        <p:nvGrpSpPr>
          <p:cNvPr id="38" name="Group 37">
            <a:extLst>
              <a:ext uri="{FF2B5EF4-FFF2-40B4-BE49-F238E27FC236}">
                <a16:creationId xmlns:a16="http://schemas.microsoft.com/office/drawing/2014/main" id="{A958EDBC-CF48-E8C1-7388-960E40D888AE}"/>
              </a:ext>
            </a:extLst>
          </p:cNvPr>
          <p:cNvGrpSpPr/>
          <p:nvPr/>
        </p:nvGrpSpPr>
        <p:grpSpPr>
          <a:xfrm>
            <a:off x="100584" y="3721717"/>
            <a:ext cx="2514600" cy="420624"/>
            <a:chOff x="164592" y="4160520"/>
            <a:chExt cx="2514600" cy="420624"/>
          </a:xfrm>
        </p:grpSpPr>
        <p:sp>
          <p:nvSpPr>
            <p:cNvPr id="19" name="Shape 15"/>
            <p:cNvSpPr/>
            <p:nvPr/>
          </p:nvSpPr>
          <p:spPr>
            <a:xfrm>
              <a:off x="164592" y="4160520"/>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20" name="Text 16"/>
            <p:cNvSpPr/>
            <p:nvPr/>
          </p:nvSpPr>
          <p:spPr>
            <a:xfrm>
              <a:off x="201168" y="4160520"/>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06  Automation Testing</a:t>
              </a:r>
              <a:endParaRPr lang="en-US" sz="1200" dirty="0"/>
            </a:p>
          </p:txBody>
        </p:sp>
      </p:grpSp>
      <p:sp>
        <p:nvSpPr>
          <p:cNvPr id="21" name="Text 17"/>
          <p:cNvSpPr/>
          <p:nvPr/>
        </p:nvSpPr>
        <p:spPr>
          <a:xfrm>
            <a:off x="3200400" y="457200"/>
            <a:ext cx="5486400" cy="502920"/>
          </a:xfrm>
          <a:prstGeom prst="rect">
            <a:avLst/>
          </a:prstGeom>
          <a:noFill/>
          <a:ln/>
        </p:spPr>
        <p:txBody>
          <a:bodyPr wrap="square" rtlCol="0" anchor="ctr"/>
          <a:lstStyle/>
          <a:p>
            <a:pPr marL="0" indent="0">
              <a:buNone/>
            </a:pPr>
            <a:r>
              <a:rPr lang="en-US" sz="2200" b="1" dirty="0">
                <a:solidFill>
                  <a:srgbClr val="F1F5FB"/>
                </a:solidFill>
                <a:latin typeface="Calibri" pitchFamily="34" charset="0"/>
                <a:ea typeface="Calibri" pitchFamily="34" charset="-122"/>
                <a:cs typeface="Calibri" pitchFamily="34" charset="-120"/>
              </a:rPr>
              <a:t>Overview</a:t>
            </a:r>
            <a:endParaRPr lang="en-US" sz="2200" dirty="0"/>
          </a:p>
        </p:txBody>
      </p:sp>
      <p:sp>
        <p:nvSpPr>
          <p:cNvPr id="22" name="Shape 18"/>
          <p:cNvSpPr/>
          <p:nvPr/>
        </p:nvSpPr>
        <p:spPr>
          <a:xfrm>
            <a:off x="3200400" y="960120"/>
            <a:ext cx="5486400" cy="0"/>
          </a:xfrm>
          <a:prstGeom prst="line">
            <a:avLst/>
          </a:prstGeom>
          <a:noFill/>
          <a:ln w="6350">
            <a:solidFill>
              <a:srgbClr val="1E2D4A"/>
            </a:solidFill>
            <a:prstDash val="solid"/>
          </a:ln>
        </p:spPr>
        <p:txBody>
          <a:bodyPr/>
          <a:lstStyle/>
          <a:p>
            <a:endParaRPr lang="en-US"/>
          </a:p>
        </p:txBody>
      </p:sp>
      <p:sp>
        <p:nvSpPr>
          <p:cNvPr id="23" name="Text 19"/>
          <p:cNvSpPr/>
          <p:nvPr/>
        </p:nvSpPr>
        <p:spPr>
          <a:xfrm>
            <a:off x="3200400" y="1143000"/>
            <a:ext cx="5303520" cy="914400"/>
          </a:xfrm>
          <a:prstGeom prst="rect">
            <a:avLst/>
          </a:prstGeom>
          <a:noFill/>
          <a:ln/>
        </p:spPr>
        <p:txBody>
          <a:bodyPr wrap="square" rtlCol="0" anchor="ctr"/>
          <a:lstStyle/>
          <a:p>
            <a:pPr marL="0" indent="0" algn="l">
              <a:buNone/>
            </a:pPr>
            <a:r>
              <a:rPr lang="en-US" sz="1300" dirty="0">
                <a:solidFill>
                  <a:srgbClr val="8892A4"/>
                </a:solidFill>
                <a:latin typeface="Calibri" pitchFamily="34" charset="0"/>
                <a:ea typeface="Calibri" pitchFamily="34" charset="-122"/>
                <a:cs typeface="Calibri" pitchFamily="34" charset="-120"/>
              </a:rPr>
              <a:t>This presentation covers our graduation project from inception to delivery — walking through every stage of our QA testing lifecycle, methodology, and final results.</a:t>
            </a:r>
            <a:endParaRPr lang="en-US" sz="1300" dirty="0"/>
          </a:p>
        </p:txBody>
      </p:sp>
      <p:sp>
        <p:nvSpPr>
          <p:cNvPr id="24" name="Shape 20"/>
          <p:cNvSpPr/>
          <p:nvPr/>
        </p:nvSpPr>
        <p:spPr>
          <a:xfrm>
            <a:off x="3200400" y="2377440"/>
            <a:ext cx="1280160" cy="1188720"/>
          </a:xfrm>
          <a:prstGeom prst="roundRect">
            <a:avLst>
              <a:gd name="adj" fmla="val 6154"/>
            </a:avLst>
          </a:prstGeom>
          <a:solidFill>
            <a:srgbClr val="141B2D"/>
          </a:solidFill>
          <a:ln w="12700">
            <a:solidFill>
              <a:srgbClr val="6C63FF"/>
            </a:solidFill>
            <a:prstDash val="solid"/>
          </a:ln>
        </p:spPr>
        <p:txBody>
          <a:bodyPr/>
          <a:lstStyle/>
          <a:p>
            <a:endParaRPr lang="en-US"/>
          </a:p>
        </p:txBody>
      </p:sp>
      <p:sp>
        <p:nvSpPr>
          <p:cNvPr id="25" name="Text 21"/>
          <p:cNvSpPr/>
          <p:nvPr/>
        </p:nvSpPr>
        <p:spPr>
          <a:xfrm>
            <a:off x="3200400" y="2468880"/>
            <a:ext cx="1280160" cy="594360"/>
          </a:xfrm>
          <a:prstGeom prst="rect">
            <a:avLst/>
          </a:prstGeom>
          <a:noFill/>
          <a:ln/>
        </p:spPr>
        <p:txBody>
          <a:bodyPr wrap="square" rtlCol="0" anchor="ctr"/>
          <a:lstStyle/>
          <a:p>
            <a:pPr marL="0" indent="0" algn="ctr">
              <a:buNone/>
            </a:pPr>
            <a:r>
              <a:rPr lang="en-US" sz="3000" b="1" dirty="0">
                <a:solidFill>
                  <a:srgbClr val="6C63FF"/>
                </a:solidFill>
                <a:latin typeface="Calibri" pitchFamily="34" charset="0"/>
                <a:ea typeface="Calibri" pitchFamily="34" charset="-122"/>
                <a:cs typeface="Calibri" pitchFamily="34" charset="-120"/>
              </a:rPr>
              <a:t>126</a:t>
            </a:r>
            <a:endParaRPr lang="en-US" sz="3000" dirty="0"/>
          </a:p>
        </p:txBody>
      </p:sp>
      <p:sp>
        <p:nvSpPr>
          <p:cNvPr id="26" name="Text 22"/>
          <p:cNvSpPr/>
          <p:nvPr/>
        </p:nvSpPr>
        <p:spPr>
          <a:xfrm>
            <a:off x="320040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Test Cases</a:t>
            </a:r>
            <a:endParaRPr lang="en-US" sz="1000" dirty="0"/>
          </a:p>
        </p:txBody>
      </p:sp>
      <p:sp>
        <p:nvSpPr>
          <p:cNvPr id="27" name="Shape 23"/>
          <p:cNvSpPr/>
          <p:nvPr/>
        </p:nvSpPr>
        <p:spPr>
          <a:xfrm>
            <a:off x="4663440" y="2377440"/>
            <a:ext cx="1280160" cy="1188720"/>
          </a:xfrm>
          <a:prstGeom prst="roundRect">
            <a:avLst>
              <a:gd name="adj" fmla="val 6154"/>
            </a:avLst>
          </a:prstGeom>
          <a:solidFill>
            <a:srgbClr val="141B2D"/>
          </a:solidFill>
          <a:ln w="12700">
            <a:solidFill>
              <a:srgbClr val="00E676"/>
            </a:solidFill>
            <a:prstDash val="solid"/>
          </a:ln>
        </p:spPr>
        <p:txBody>
          <a:bodyPr/>
          <a:lstStyle/>
          <a:p>
            <a:endParaRPr lang="en-US"/>
          </a:p>
        </p:txBody>
      </p:sp>
      <p:sp>
        <p:nvSpPr>
          <p:cNvPr id="28" name="Text 24"/>
          <p:cNvSpPr/>
          <p:nvPr/>
        </p:nvSpPr>
        <p:spPr>
          <a:xfrm>
            <a:off x="4663440" y="2468880"/>
            <a:ext cx="1280160" cy="594360"/>
          </a:xfrm>
          <a:prstGeom prst="rect">
            <a:avLst/>
          </a:prstGeom>
          <a:noFill/>
          <a:ln/>
        </p:spPr>
        <p:txBody>
          <a:bodyPr wrap="square" rtlCol="0" anchor="ctr"/>
          <a:lstStyle/>
          <a:p>
            <a:pPr marL="0" indent="0" algn="ctr">
              <a:buNone/>
            </a:pPr>
            <a:r>
              <a:rPr lang="en-US" sz="3000" b="1" dirty="0">
                <a:solidFill>
                  <a:srgbClr val="00E676"/>
                </a:solidFill>
                <a:latin typeface="Calibri" pitchFamily="34" charset="0"/>
                <a:ea typeface="Calibri" pitchFamily="34" charset="-122"/>
                <a:cs typeface="Calibri" pitchFamily="34" charset="-120"/>
              </a:rPr>
              <a:t>126</a:t>
            </a:r>
            <a:endParaRPr lang="en-US" sz="3000" dirty="0"/>
          </a:p>
        </p:txBody>
      </p:sp>
      <p:sp>
        <p:nvSpPr>
          <p:cNvPr id="29" name="Text 25"/>
          <p:cNvSpPr/>
          <p:nvPr/>
        </p:nvSpPr>
        <p:spPr>
          <a:xfrm>
            <a:off x="466344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Passed</a:t>
            </a:r>
            <a:endParaRPr lang="en-US" sz="1000" dirty="0"/>
          </a:p>
        </p:txBody>
      </p:sp>
      <p:sp>
        <p:nvSpPr>
          <p:cNvPr id="30" name="Shape 26"/>
          <p:cNvSpPr/>
          <p:nvPr/>
        </p:nvSpPr>
        <p:spPr>
          <a:xfrm>
            <a:off x="6126480" y="2377440"/>
            <a:ext cx="1280160" cy="1188720"/>
          </a:xfrm>
          <a:prstGeom prst="roundRect">
            <a:avLst>
              <a:gd name="adj" fmla="val 6154"/>
            </a:avLst>
          </a:prstGeom>
          <a:solidFill>
            <a:srgbClr val="141B2D"/>
          </a:solidFill>
          <a:ln w="12700">
            <a:solidFill>
              <a:srgbClr val="FF5252"/>
            </a:solidFill>
            <a:prstDash val="solid"/>
          </a:ln>
        </p:spPr>
        <p:txBody>
          <a:bodyPr/>
          <a:lstStyle/>
          <a:p>
            <a:endParaRPr lang="en-US"/>
          </a:p>
        </p:txBody>
      </p:sp>
      <p:sp>
        <p:nvSpPr>
          <p:cNvPr id="31" name="Text 27"/>
          <p:cNvSpPr/>
          <p:nvPr/>
        </p:nvSpPr>
        <p:spPr>
          <a:xfrm>
            <a:off x="6126480" y="2468880"/>
            <a:ext cx="1280160" cy="594360"/>
          </a:xfrm>
          <a:prstGeom prst="rect">
            <a:avLst/>
          </a:prstGeom>
          <a:noFill/>
          <a:ln/>
        </p:spPr>
        <p:txBody>
          <a:bodyPr wrap="square" rtlCol="0" anchor="ctr"/>
          <a:lstStyle/>
          <a:p>
            <a:pPr marL="0" indent="0" algn="ctr">
              <a:buNone/>
            </a:pPr>
            <a:r>
              <a:rPr lang="en-US" sz="3000" b="1" dirty="0">
                <a:solidFill>
                  <a:srgbClr val="FF5252"/>
                </a:solidFill>
                <a:latin typeface="Calibri" pitchFamily="34" charset="0"/>
                <a:ea typeface="Calibri" pitchFamily="34" charset="-122"/>
                <a:cs typeface="Calibri" pitchFamily="34" charset="-120"/>
              </a:rPr>
              <a:t>0</a:t>
            </a:r>
            <a:endParaRPr lang="en-US" sz="3000" dirty="0"/>
          </a:p>
        </p:txBody>
      </p:sp>
      <p:sp>
        <p:nvSpPr>
          <p:cNvPr id="32" name="Text 28"/>
          <p:cNvSpPr/>
          <p:nvPr/>
        </p:nvSpPr>
        <p:spPr>
          <a:xfrm>
            <a:off x="612648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Failed</a:t>
            </a:r>
            <a:endParaRPr lang="en-US" sz="1000" dirty="0"/>
          </a:p>
        </p:txBody>
      </p:sp>
      <p:sp>
        <p:nvSpPr>
          <p:cNvPr id="33" name="Shape 29"/>
          <p:cNvSpPr/>
          <p:nvPr/>
        </p:nvSpPr>
        <p:spPr>
          <a:xfrm>
            <a:off x="7589520" y="2377440"/>
            <a:ext cx="1280160" cy="1188720"/>
          </a:xfrm>
          <a:prstGeom prst="roundRect">
            <a:avLst>
              <a:gd name="adj" fmla="val 6154"/>
            </a:avLst>
          </a:prstGeom>
          <a:solidFill>
            <a:srgbClr val="141B2D"/>
          </a:solidFill>
          <a:ln w="12700">
            <a:solidFill>
              <a:srgbClr val="FFB300"/>
            </a:solidFill>
            <a:prstDash val="solid"/>
          </a:ln>
        </p:spPr>
        <p:txBody>
          <a:bodyPr/>
          <a:lstStyle/>
          <a:p>
            <a:endParaRPr lang="en-US"/>
          </a:p>
        </p:txBody>
      </p:sp>
      <p:sp>
        <p:nvSpPr>
          <p:cNvPr id="34" name="Text 30"/>
          <p:cNvSpPr/>
          <p:nvPr/>
        </p:nvSpPr>
        <p:spPr>
          <a:xfrm>
            <a:off x="7589520" y="2468880"/>
            <a:ext cx="1280160" cy="594360"/>
          </a:xfrm>
          <a:prstGeom prst="rect">
            <a:avLst/>
          </a:prstGeom>
          <a:noFill/>
          <a:ln/>
        </p:spPr>
        <p:txBody>
          <a:bodyPr wrap="square" rtlCol="0" anchor="ctr"/>
          <a:lstStyle/>
          <a:p>
            <a:pPr marL="0" indent="0" algn="ctr">
              <a:buNone/>
            </a:pPr>
            <a:r>
              <a:rPr lang="en-US" sz="3000" b="1" dirty="0">
                <a:solidFill>
                  <a:srgbClr val="FFB300"/>
                </a:solidFill>
                <a:latin typeface="Calibri" pitchFamily="34" charset="0"/>
                <a:ea typeface="Calibri" pitchFamily="34" charset="-122"/>
                <a:cs typeface="Calibri" pitchFamily="34" charset="-120"/>
              </a:rPr>
              <a:t>0</a:t>
            </a:r>
            <a:endParaRPr lang="en-US" sz="3000" dirty="0"/>
          </a:p>
        </p:txBody>
      </p:sp>
      <p:sp>
        <p:nvSpPr>
          <p:cNvPr id="35" name="Text 31"/>
          <p:cNvSpPr/>
          <p:nvPr/>
        </p:nvSpPr>
        <p:spPr>
          <a:xfrm>
            <a:off x="7589520" y="3063240"/>
            <a:ext cx="12801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Bugs</a:t>
            </a:r>
            <a:endParaRPr lang="en-US" sz="1000" dirty="0"/>
          </a:p>
        </p:txBody>
      </p:sp>
      <p:graphicFrame>
        <p:nvGraphicFramePr>
          <p:cNvPr id="36" name="Chart 0"/>
          <p:cNvGraphicFramePr/>
          <p:nvPr>
            <p:extLst>
              <p:ext uri="{D42A27DB-BD31-4B8C-83A1-F6EECF244321}">
                <p14:modId xmlns:p14="http://schemas.microsoft.com/office/powerpoint/2010/main" val="2936647435"/>
              </p:ext>
            </p:extLst>
          </p:nvPr>
        </p:nvGraphicFramePr>
        <p:xfrm>
          <a:off x="3200400" y="3657600"/>
          <a:ext cx="5669280" cy="1280160"/>
        </p:xfrm>
        <a:graphic>
          <a:graphicData uri="http://schemas.openxmlformats.org/drawingml/2006/chart">
            <c:chart xmlns:c="http://schemas.openxmlformats.org/drawingml/2006/chart" xmlns:r="http://schemas.openxmlformats.org/officeDocument/2006/relationships" r:id="rId5"/>
          </a:graphicData>
        </a:graphic>
      </p:graphicFrame>
      <p:grpSp>
        <p:nvGrpSpPr>
          <p:cNvPr id="42" name="Group 41">
            <a:extLst>
              <a:ext uri="{FF2B5EF4-FFF2-40B4-BE49-F238E27FC236}">
                <a16:creationId xmlns:a16="http://schemas.microsoft.com/office/drawing/2014/main" id="{9006FEFD-C9A9-7B5B-C8E2-CF7989E65B9D}"/>
              </a:ext>
            </a:extLst>
          </p:cNvPr>
          <p:cNvGrpSpPr/>
          <p:nvPr/>
        </p:nvGrpSpPr>
        <p:grpSpPr>
          <a:xfrm>
            <a:off x="91440" y="4229100"/>
            <a:ext cx="2514600" cy="420624"/>
            <a:chOff x="164592" y="4160520"/>
            <a:chExt cx="2514600" cy="420624"/>
          </a:xfrm>
        </p:grpSpPr>
        <p:sp>
          <p:nvSpPr>
            <p:cNvPr id="43" name="Shape 15">
              <a:extLst>
                <a:ext uri="{FF2B5EF4-FFF2-40B4-BE49-F238E27FC236}">
                  <a16:creationId xmlns:a16="http://schemas.microsoft.com/office/drawing/2014/main" id="{954E6050-010E-8F0B-3502-2C188A1FCB01}"/>
                </a:ext>
              </a:extLst>
            </p:cNvPr>
            <p:cNvSpPr/>
            <p:nvPr/>
          </p:nvSpPr>
          <p:spPr>
            <a:xfrm>
              <a:off x="164592" y="4160520"/>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44" name="Text 16">
              <a:extLst>
                <a:ext uri="{FF2B5EF4-FFF2-40B4-BE49-F238E27FC236}">
                  <a16:creationId xmlns:a16="http://schemas.microsoft.com/office/drawing/2014/main" id="{99794837-F343-A9C8-5475-7F1E2FD462D3}"/>
                </a:ext>
              </a:extLst>
            </p:cNvPr>
            <p:cNvSpPr/>
            <p:nvPr/>
          </p:nvSpPr>
          <p:spPr>
            <a:xfrm>
              <a:off x="201168" y="4160520"/>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07  Results</a:t>
              </a:r>
              <a:endParaRPr lang="en-US" sz="1200" dirty="0"/>
            </a:p>
          </p:txBody>
        </p:sp>
      </p:grpSp>
      <p:grpSp>
        <p:nvGrpSpPr>
          <p:cNvPr id="45" name="Group 44">
            <a:extLst>
              <a:ext uri="{FF2B5EF4-FFF2-40B4-BE49-F238E27FC236}">
                <a16:creationId xmlns:a16="http://schemas.microsoft.com/office/drawing/2014/main" id="{061F3DA5-F6E8-3B51-6BCE-A0E757CB0DEC}"/>
              </a:ext>
            </a:extLst>
          </p:cNvPr>
          <p:cNvGrpSpPr/>
          <p:nvPr/>
        </p:nvGrpSpPr>
        <p:grpSpPr>
          <a:xfrm>
            <a:off x="100584" y="4736483"/>
            <a:ext cx="2514600" cy="420624"/>
            <a:chOff x="164592" y="4160520"/>
            <a:chExt cx="2514600" cy="420624"/>
          </a:xfrm>
        </p:grpSpPr>
        <p:sp>
          <p:nvSpPr>
            <p:cNvPr id="46" name="Shape 15">
              <a:extLst>
                <a:ext uri="{FF2B5EF4-FFF2-40B4-BE49-F238E27FC236}">
                  <a16:creationId xmlns:a16="http://schemas.microsoft.com/office/drawing/2014/main" id="{4CC0FC5B-1E0B-8F4C-5498-2BA56B021650}"/>
                </a:ext>
              </a:extLst>
            </p:cNvPr>
            <p:cNvSpPr/>
            <p:nvPr/>
          </p:nvSpPr>
          <p:spPr>
            <a:xfrm>
              <a:off x="164592" y="4160520"/>
              <a:ext cx="2514600" cy="420624"/>
            </a:xfrm>
            <a:prstGeom prst="roundRect">
              <a:avLst>
                <a:gd name="adj" fmla="val 10870"/>
              </a:avLst>
            </a:prstGeom>
            <a:solidFill>
              <a:srgbClr val="0F1526"/>
            </a:solidFill>
            <a:ln w="12700">
              <a:solidFill>
                <a:srgbClr val="1E2D4A"/>
              </a:solidFill>
              <a:prstDash val="solid"/>
            </a:ln>
          </p:spPr>
          <p:txBody>
            <a:bodyPr/>
            <a:lstStyle/>
            <a:p>
              <a:endParaRPr lang="en-US"/>
            </a:p>
          </p:txBody>
        </p:sp>
        <p:sp>
          <p:nvSpPr>
            <p:cNvPr id="47" name="Text 16">
              <a:extLst>
                <a:ext uri="{FF2B5EF4-FFF2-40B4-BE49-F238E27FC236}">
                  <a16:creationId xmlns:a16="http://schemas.microsoft.com/office/drawing/2014/main" id="{AF82BD87-2930-D00A-FBB1-8782F342FA28}"/>
                </a:ext>
              </a:extLst>
            </p:cNvPr>
            <p:cNvSpPr/>
            <p:nvPr/>
          </p:nvSpPr>
          <p:spPr>
            <a:xfrm>
              <a:off x="201168" y="4160520"/>
              <a:ext cx="2468880" cy="420624"/>
            </a:xfrm>
            <a:prstGeom prst="rect">
              <a:avLst/>
            </a:prstGeom>
            <a:noFill/>
            <a:ln/>
          </p:spPr>
          <p:txBody>
            <a:bodyPr wrap="square" lIns="101600" tIns="101600" rIns="101600" bIns="101600" rtlCol="0" anchor="ctr"/>
            <a:lstStyle/>
            <a:p>
              <a:pPr marL="0" indent="0">
                <a:buNone/>
              </a:pPr>
              <a:r>
                <a:rPr lang="en-US" sz="1200" dirty="0">
                  <a:solidFill>
                    <a:srgbClr val="8892A4"/>
                  </a:solidFill>
                  <a:latin typeface="Calibri" pitchFamily="34" charset="0"/>
                  <a:ea typeface="Calibri" pitchFamily="34" charset="-122"/>
                  <a:cs typeface="Calibri" pitchFamily="34" charset="-120"/>
                </a:rPr>
                <a:t>08  Conclusion</a:t>
              </a:r>
              <a:endParaRPr lang="en-US" sz="1200" dirty="0"/>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567558" y="0"/>
            <a:ext cx="8576441" cy="1005840"/>
          </a:xfrm>
          <a:prstGeom prst="rect">
            <a:avLst/>
          </a:prstGeom>
          <a:solidFill>
            <a:srgbClr val="141B2D"/>
          </a:solidFill>
          <a:ln w="12700">
            <a:solidFill>
              <a:srgbClr val="1E2D4A"/>
            </a:solidFill>
            <a:prstDash val="solid"/>
          </a:ln>
        </p:spPr>
        <p:txBody>
          <a:bodyPr/>
          <a:lstStyle/>
          <a:p>
            <a:endParaRPr lang="en-US"/>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6C63FF"/>
          </a:solidFill>
          <a:ln w="12700">
            <a:solidFill>
              <a:srgbClr val="6C63FF"/>
            </a:solidFill>
            <a:prstDash val="solid"/>
          </a:ln>
        </p:spPr>
        <p:txBody>
          <a:bodyPr/>
          <a:lstStyle/>
          <a:p>
            <a:endParaRPr lang="en-US"/>
          </a:p>
        </p:txBody>
      </p:sp>
      <p:sp>
        <p:nvSpPr>
          <p:cNvPr id="6" name="Text 2"/>
          <p:cNvSpPr/>
          <p:nvPr/>
        </p:nvSpPr>
        <p:spPr>
          <a:xfrm>
            <a:off x="932688" y="137160"/>
            <a:ext cx="4919472" cy="54864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Project Overview</a:t>
            </a:r>
            <a:endParaRPr lang="en-US" sz="2600" dirty="0"/>
          </a:p>
        </p:txBody>
      </p:sp>
      <p:sp>
        <p:nvSpPr>
          <p:cNvPr id="8" name="Text 4"/>
          <p:cNvSpPr/>
          <p:nvPr/>
        </p:nvSpPr>
        <p:spPr>
          <a:xfrm>
            <a:off x="365760" y="1143000"/>
            <a:ext cx="3657600" cy="365760"/>
          </a:xfrm>
          <a:prstGeom prst="rect">
            <a:avLst/>
          </a:prstGeom>
          <a:noFill/>
          <a:ln/>
        </p:spPr>
        <p:txBody>
          <a:bodyPr wrap="square" rtlCol="0" anchor="ctr"/>
          <a:lstStyle/>
          <a:p>
            <a:pPr marL="0" indent="0">
              <a:buNone/>
            </a:pPr>
            <a:r>
              <a:rPr lang="en-US" sz="1400" b="1" dirty="0">
                <a:solidFill>
                  <a:srgbClr val="4FC3F7"/>
                </a:solidFill>
                <a:latin typeface="Calibri" pitchFamily="34" charset="0"/>
                <a:ea typeface="Calibri" pitchFamily="34" charset="-122"/>
                <a:cs typeface="Calibri" pitchFamily="34" charset="-120"/>
              </a:rPr>
              <a:t>The Team</a:t>
            </a:r>
            <a:endParaRPr lang="en-US" sz="1400" dirty="0"/>
          </a:p>
        </p:txBody>
      </p:sp>
      <p:grpSp>
        <p:nvGrpSpPr>
          <p:cNvPr id="61" name="Group 60">
            <a:extLst>
              <a:ext uri="{FF2B5EF4-FFF2-40B4-BE49-F238E27FC236}">
                <a16:creationId xmlns:a16="http://schemas.microsoft.com/office/drawing/2014/main" id="{49F99B92-7EF8-3860-C7F1-EBC17639DCC7}"/>
              </a:ext>
            </a:extLst>
          </p:cNvPr>
          <p:cNvGrpSpPr/>
          <p:nvPr/>
        </p:nvGrpSpPr>
        <p:grpSpPr>
          <a:xfrm>
            <a:off x="274320" y="1554480"/>
            <a:ext cx="2743200" cy="914400"/>
            <a:chOff x="274320" y="1554480"/>
            <a:chExt cx="2743200" cy="914400"/>
          </a:xfrm>
        </p:grpSpPr>
        <p:sp>
          <p:nvSpPr>
            <p:cNvPr id="9" name="Shape 5"/>
            <p:cNvSpPr/>
            <p:nvPr/>
          </p:nvSpPr>
          <p:spPr>
            <a:xfrm>
              <a:off x="274320" y="1554480"/>
              <a:ext cx="2743200" cy="914400"/>
            </a:xfrm>
            <a:prstGeom prst="roundRect">
              <a:avLst>
                <a:gd name="adj" fmla="val 8000"/>
              </a:avLst>
            </a:prstGeom>
            <a:solidFill>
              <a:srgbClr val="1A2340"/>
            </a:solidFill>
            <a:ln w="12700">
              <a:solidFill>
                <a:srgbClr val="6C63FF"/>
              </a:solidFill>
              <a:prstDash val="solid"/>
            </a:ln>
          </p:spPr>
          <p:txBody>
            <a:bodyPr/>
            <a:lstStyle/>
            <a:p>
              <a:endParaRPr lang="en-US"/>
            </a:p>
          </p:txBody>
        </p:sp>
        <p:sp>
          <p:nvSpPr>
            <p:cNvPr id="10" name="Shape 6"/>
            <p:cNvSpPr/>
            <p:nvPr/>
          </p:nvSpPr>
          <p:spPr>
            <a:xfrm>
              <a:off x="384048" y="1783080"/>
              <a:ext cx="457200" cy="457200"/>
            </a:xfrm>
            <a:prstGeom prst="ellipse">
              <a:avLst/>
            </a:prstGeom>
            <a:solidFill>
              <a:srgbClr val="6C63FF">
                <a:alpha val="80000"/>
              </a:srgbClr>
            </a:solidFill>
            <a:ln w="12700">
              <a:solidFill>
                <a:srgbClr val="6C63FF"/>
              </a:solidFill>
              <a:prstDash val="solid"/>
            </a:ln>
          </p:spPr>
          <p:txBody>
            <a:bodyPr/>
            <a:lstStyle/>
            <a:p>
              <a:endParaRPr lang="en-US"/>
            </a:p>
          </p:txBody>
        </p:sp>
        <p:sp>
          <p:nvSpPr>
            <p:cNvPr id="11" name="Text 7"/>
            <p:cNvSpPr/>
            <p:nvPr/>
          </p:nvSpPr>
          <p:spPr>
            <a:xfrm>
              <a:off x="384048" y="178308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A</a:t>
              </a:r>
              <a:endParaRPr lang="en-US" sz="1400" dirty="0"/>
            </a:p>
          </p:txBody>
        </p:sp>
        <p:sp>
          <p:nvSpPr>
            <p:cNvPr id="12" name="Text 8"/>
            <p:cNvSpPr/>
            <p:nvPr/>
          </p:nvSpPr>
          <p:spPr>
            <a:xfrm>
              <a:off x="932688" y="1664208"/>
              <a:ext cx="2011680" cy="347472"/>
            </a:xfrm>
            <a:prstGeom prst="rect">
              <a:avLst/>
            </a:prstGeom>
            <a:noFill/>
            <a:ln/>
          </p:spPr>
          <p:txBody>
            <a:bodyPr wrap="square" rtlCol="0" anchor="ctr"/>
            <a:lstStyle/>
            <a:p>
              <a:pPr marL="0" indent="0">
                <a:buNone/>
              </a:pPr>
              <a:r>
                <a:rPr lang="en-US" sz="1300" b="1" dirty="0">
                  <a:solidFill>
                    <a:srgbClr val="F1F5FB"/>
                  </a:solidFill>
                  <a:latin typeface="Calibri" pitchFamily="34" charset="0"/>
                  <a:ea typeface="Calibri" pitchFamily="34" charset="-122"/>
                  <a:cs typeface="Calibri" pitchFamily="34" charset="-120"/>
                </a:rPr>
                <a:t>Ahmed Saleh</a:t>
              </a:r>
              <a:endParaRPr lang="en-US" sz="1300" dirty="0"/>
            </a:p>
          </p:txBody>
        </p:sp>
        <p:sp>
          <p:nvSpPr>
            <p:cNvPr id="13" name="Text 9"/>
            <p:cNvSpPr/>
            <p:nvPr/>
          </p:nvSpPr>
          <p:spPr>
            <a:xfrm>
              <a:off x="932688" y="2011680"/>
              <a:ext cx="2011680" cy="292608"/>
            </a:xfrm>
            <a:prstGeom prst="rect">
              <a:avLst/>
            </a:prstGeom>
            <a:noFill/>
            <a:ln/>
          </p:spPr>
          <p:txBody>
            <a:bodyPr wrap="square" rtlCol="0" anchor="ctr"/>
            <a:lstStyle/>
            <a:p>
              <a:pPr marL="0" indent="0">
                <a:buNone/>
              </a:pPr>
              <a:r>
                <a:rPr lang="en-US" sz="1000" dirty="0">
                  <a:solidFill>
                    <a:srgbClr val="6C63FF"/>
                  </a:solidFill>
                  <a:latin typeface="Calibri" pitchFamily="34" charset="0"/>
                  <a:ea typeface="Calibri" pitchFamily="34" charset="-122"/>
                  <a:cs typeface="Calibri" pitchFamily="34" charset="-120"/>
                </a:rPr>
                <a:t>Team Leader</a:t>
              </a:r>
              <a:endParaRPr lang="en-US" sz="1000" dirty="0"/>
            </a:p>
          </p:txBody>
        </p:sp>
      </p:grpSp>
      <p:grpSp>
        <p:nvGrpSpPr>
          <p:cNvPr id="48" name="Group 47">
            <a:extLst>
              <a:ext uri="{FF2B5EF4-FFF2-40B4-BE49-F238E27FC236}">
                <a16:creationId xmlns:a16="http://schemas.microsoft.com/office/drawing/2014/main" id="{FE9EBCF4-6EFA-EDF3-B185-83EAF6780303}"/>
              </a:ext>
            </a:extLst>
          </p:cNvPr>
          <p:cNvGrpSpPr/>
          <p:nvPr/>
        </p:nvGrpSpPr>
        <p:grpSpPr>
          <a:xfrm>
            <a:off x="3200400" y="1554480"/>
            <a:ext cx="2743200" cy="914400"/>
            <a:chOff x="3200400" y="1554480"/>
            <a:chExt cx="2743200" cy="914400"/>
          </a:xfrm>
        </p:grpSpPr>
        <p:sp>
          <p:nvSpPr>
            <p:cNvPr id="14" name="Shape 10"/>
            <p:cNvSpPr/>
            <p:nvPr/>
          </p:nvSpPr>
          <p:spPr>
            <a:xfrm>
              <a:off x="3200400" y="1554480"/>
              <a:ext cx="2743200" cy="914400"/>
            </a:xfrm>
            <a:prstGeom prst="roundRect">
              <a:avLst>
                <a:gd name="adj" fmla="val 8000"/>
              </a:avLst>
            </a:prstGeom>
            <a:solidFill>
              <a:srgbClr val="1A2340"/>
            </a:solidFill>
            <a:ln w="12700">
              <a:solidFill>
                <a:srgbClr val="4FC3F7"/>
              </a:solidFill>
              <a:prstDash val="solid"/>
            </a:ln>
          </p:spPr>
          <p:txBody>
            <a:bodyPr/>
            <a:lstStyle/>
            <a:p>
              <a:endParaRPr lang="en-US"/>
            </a:p>
          </p:txBody>
        </p:sp>
        <p:sp>
          <p:nvSpPr>
            <p:cNvPr id="15" name="Shape 11"/>
            <p:cNvSpPr/>
            <p:nvPr/>
          </p:nvSpPr>
          <p:spPr>
            <a:xfrm>
              <a:off x="3310128" y="1783080"/>
              <a:ext cx="457200" cy="457200"/>
            </a:xfrm>
            <a:prstGeom prst="ellipse">
              <a:avLst/>
            </a:prstGeom>
            <a:solidFill>
              <a:srgbClr val="4FC3F7">
                <a:alpha val="80000"/>
              </a:srgbClr>
            </a:solidFill>
            <a:ln w="12700">
              <a:solidFill>
                <a:srgbClr val="4FC3F7"/>
              </a:solidFill>
              <a:prstDash val="solid"/>
            </a:ln>
          </p:spPr>
          <p:txBody>
            <a:bodyPr/>
            <a:lstStyle/>
            <a:p>
              <a:endParaRPr lang="en-US" dirty="0"/>
            </a:p>
          </p:txBody>
        </p:sp>
        <p:sp>
          <p:nvSpPr>
            <p:cNvPr id="16" name="Text 12"/>
            <p:cNvSpPr/>
            <p:nvPr/>
          </p:nvSpPr>
          <p:spPr>
            <a:xfrm>
              <a:off x="3310128" y="178308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J</a:t>
              </a:r>
              <a:endParaRPr lang="en-US" sz="1400" dirty="0"/>
            </a:p>
          </p:txBody>
        </p:sp>
        <p:sp>
          <p:nvSpPr>
            <p:cNvPr id="17" name="Text 13"/>
            <p:cNvSpPr/>
            <p:nvPr/>
          </p:nvSpPr>
          <p:spPr>
            <a:xfrm>
              <a:off x="3858768" y="1664208"/>
              <a:ext cx="2011680" cy="347472"/>
            </a:xfrm>
            <a:prstGeom prst="rect">
              <a:avLst/>
            </a:prstGeom>
            <a:noFill/>
            <a:ln/>
          </p:spPr>
          <p:txBody>
            <a:bodyPr wrap="square" rtlCol="0" anchor="ctr"/>
            <a:lstStyle/>
            <a:p>
              <a:r>
                <a:rPr lang="en-US" sz="1300" b="1" dirty="0">
                  <a:solidFill>
                    <a:srgbClr val="F1F5FB"/>
                  </a:solidFill>
                  <a:latin typeface="Calibri" pitchFamily="34" charset="0"/>
                  <a:ea typeface="Calibri" pitchFamily="34" charset="-122"/>
                  <a:cs typeface="Calibri" pitchFamily="34" charset="-120"/>
                </a:rPr>
                <a:t>John Ayad</a:t>
              </a:r>
              <a:endParaRPr lang="en-US" sz="1300" dirty="0"/>
            </a:p>
          </p:txBody>
        </p:sp>
        <p:sp>
          <p:nvSpPr>
            <p:cNvPr id="18" name="Text 14"/>
            <p:cNvSpPr/>
            <p:nvPr/>
          </p:nvSpPr>
          <p:spPr>
            <a:xfrm>
              <a:off x="3858768" y="2011680"/>
              <a:ext cx="2011680" cy="292608"/>
            </a:xfrm>
            <a:prstGeom prst="rect">
              <a:avLst/>
            </a:prstGeom>
            <a:noFill/>
            <a:ln/>
          </p:spPr>
          <p:txBody>
            <a:bodyPr wrap="square" rtlCol="0" anchor="ctr"/>
            <a:lstStyle/>
            <a:p>
              <a:pPr marL="0" indent="0">
                <a:buNone/>
              </a:pPr>
              <a:r>
                <a:rPr lang="en-US" sz="1000" dirty="0">
                  <a:solidFill>
                    <a:srgbClr val="4FC3F7"/>
                  </a:solidFill>
                  <a:latin typeface="Calibri" pitchFamily="34" charset="0"/>
                  <a:ea typeface="Calibri" pitchFamily="34" charset="-122"/>
                  <a:cs typeface="Calibri" pitchFamily="34" charset="-120"/>
                </a:rPr>
                <a:t>Software Testing</a:t>
              </a:r>
              <a:endParaRPr lang="en-US" sz="1000" dirty="0"/>
            </a:p>
          </p:txBody>
        </p:sp>
      </p:grpSp>
      <p:grpSp>
        <p:nvGrpSpPr>
          <p:cNvPr id="62" name="Group 61">
            <a:extLst>
              <a:ext uri="{FF2B5EF4-FFF2-40B4-BE49-F238E27FC236}">
                <a16:creationId xmlns:a16="http://schemas.microsoft.com/office/drawing/2014/main" id="{654B0703-25BC-1EC5-8060-7217EF6A5AA8}"/>
              </a:ext>
            </a:extLst>
          </p:cNvPr>
          <p:cNvGrpSpPr/>
          <p:nvPr/>
        </p:nvGrpSpPr>
        <p:grpSpPr>
          <a:xfrm>
            <a:off x="274320" y="2651760"/>
            <a:ext cx="2743200" cy="914400"/>
            <a:chOff x="274320" y="2651760"/>
            <a:chExt cx="2743200" cy="914400"/>
          </a:xfrm>
        </p:grpSpPr>
        <p:sp>
          <p:nvSpPr>
            <p:cNvPr id="19" name="Shape 15"/>
            <p:cNvSpPr/>
            <p:nvPr/>
          </p:nvSpPr>
          <p:spPr>
            <a:xfrm>
              <a:off x="274320" y="2651760"/>
              <a:ext cx="2743200" cy="914400"/>
            </a:xfrm>
            <a:prstGeom prst="roundRect">
              <a:avLst>
                <a:gd name="adj" fmla="val 8000"/>
              </a:avLst>
            </a:prstGeom>
            <a:solidFill>
              <a:srgbClr val="1A2340"/>
            </a:solidFill>
            <a:ln w="12700">
              <a:solidFill>
                <a:srgbClr val="00E676"/>
              </a:solidFill>
              <a:prstDash val="solid"/>
            </a:ln>
          </p:spPr>
          <p:txBody>
            <a:bodyPr/>
            <a:lstStyle/>
            <a:p>
              <a:endParaRPr lang="en-US"/>
            </a:p>
          </p:txBody>
        </p:sp>
        <p:sp>
          <p:nvSpPr>
            <p:cNvPr id="20" name="Shape 16"/>
            <p:cNvSpPr/>
            <p:nvPr/>
          </p:nvSpPr>
          <p:spPr>
            <a:xfrm>
              <a:off x="384048" y="2880360"/>
              <a:ext cx="457200" cy="457200"/>
            </a:xfrm>
            <a:prstGeom prst="ellipse">
              <a:avLst/>
            </a:prstGeom>
            <a:solidFill>
              <a:srgbClr val="00E676">
                <a:alpha val="80000"/>
              </a:srgbClr>
            </a:solidFill>
            <a:ln w="12700">
              <a:solidFill>
                <a:srgbClr val="00E676"/>
              </a:solidFill>
              <a:prstDash val="solid"/>
            </a:ln>
          </p:spPr>
          <p:txBody>
            <a:bodyPr/>
            <a:lstStyle/>
            <a:p>
              <a:endParaRPr lang="en-US"/>
            </a:p>
          </p:txBody>
        </p:sp>
        <p:sp>
          <p:nvSpPr>
            <p:cNvPr id="21" name="Text 17"/>
            <p:cNvSpPr/>
            <p:nvPr/>
          </p:nvSpPr>
          <p:spPr>
            <a:xfrm>
              <a:off x="384048" y="288036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L</a:t>
              </a:r>
              <a:endParaRPr lang="en-US" sz="1400" dirty="0"/>
            </a:p>
          </p:txBody>
        </p:sp>
        <p:sp>
          <p:nvSpPr>
            <p:cNvPr id="22" name="Text 18"/>
            <p:cNvSpPr/>
            <p:nvPr/>
          </p:nvSpPr>
          <p:spPr>
            <a:xfrm>
              <a:off x="932688" y="2761488"/>
              <a:ext cx="2011680" cy="347472"/>
            </a:xfrm>
            <a:prstGeom prst="rect">
              <a:avLst/>
            </a:prstGeom>
            <a:noFill/>
            <a:ln/>
          </p:spPr>
          <p:txBody>
            <a:bodyPr wrap="square" rtlCol="0" anchor="ctr"/>
            <a:lstStyle/>
            <a:p>
              <a:r>
                <a:rPr lang="en-US" sz="1300" b="1" dirty="0">
                  <a:solidFill>
                    <a:srgbClr val="F1F5FB"/>
                  </a:solidFill>
                  <a:latin typeface="Calibri" pitchFamily="34" charset="0"/>
                  <a:ea typeface="Calibri" pitchFamily="34" charset="-122"/>
                  <a:cs typeface="Calibri" pitchFamily="34" charset="-120"/>
                </a:rPr>
                <a:t>Lobna Mohamed</a:t>
              </a:r>
              <a:endParaRPr lang="en-US" sz="1300" dirty="0"/>
            </a:p>
          </p:txBody>
        </p:sp>
        <p:sp>
          <p:nvSpPr>
            <p:cNvPr id="23" name="Text 19"/>
            <p:cNvSpPr/>
            <p:nvPr/>
          </p:nvSpPr>
          <p:spPr>
            <a:xfrm>
              <a:off x="932688" y="3108960"/>
              <a:ext cx="2011680" cy="292608"/>
            </a:xfrm>
            <a:prstGeom prst="rect">
              <a:avLst/>
            </a:prstGeom>
            <a:noFill/>
            <a:ln/>
          </p:spPr>
          <p:txBody>
            <a:bodyPr wrap="square" rtlCol="0" anchor="ctr"/>
            <a:lstStyle/>
            <a:p>
              <a:pPr marL="0" indent="0">
                <a:buNone/>
              </a:pPr>
              <a:r>
                <a:rPr lang="en-US" sz="1000" dirty="0">
                  <a:solidFill>
                    <a:srgbClr val="00E676"/>
                  </a:solidFill>
                  <a:latin typeface="Calibri" pitchFamily="34" charset="0"/>
                  <a:ea typeface="Calibri" pitchFamily="34" charset="-122"/>
                  <a:cs typeface="Calibri" pitchFamily="34" charset="-120"/>
                </a:rPr>
                <a:t>Software Testing</a:t>
              </a:r>
            </a:p>
          </p:txBody>
        </p:sp>
      </p:grpSp>
      <p:grpSp>
        <p:nvGrpSpPr>
          <p:cNvPr id="63" name="Group 62">
            <a:extLst>
              <a:ext uri="{FF2B5EF4-FFF2-40B4-BE49-F238E27FC236}">
                <a16:creationId xmlns:a16="http://schemas.microsoft.com/office/drawing/2014/main" id="{41AB08B0-BD49-75CA-15F1-2694C35E53C5}"/>
              </a:ext>
            </a:extLst>
          </p:cNvPr>
          <p:cNvGrpSpPr/>
          <p:nvPr/>
        </p:nvGrpSpPr>
        <p:grpSpPr>
          <a:xfrm>
            <a:off x="3200400" y="2651760"/>
            <a:ext cx="2743200" cy="914400"/>
            <a:chOff x="3200400" y="2651760"/>
            <a:chExt cx="2743200" cy="914400"/>
          </a:xfrm>
        </p:grpSpPr>
        <p:sp>
          <p:nvSpPr>
            <p:cNvPr id="24" name="Shape 20"/>
            <p:cNvSpPr/>
            <p:nvPr/>
          </p:nvSpPr>
          <p:spPr>
            <a:xfrm>
              <a:off x="3200400" y="2651760"/>
              <a:ext cx="2743200" cy="914400"/>
            </a:xfrm>
            <a:prstGeom prst="roundRect">
              <a:avLst>
                <a:gd name="adj" fmla="val 8000"/>
              </a:avLst>
            </a:prstGeom>
            <a:solidFill>
              <a:srgbClr val="1A2340"/>
            </a:solidFill>
            <a:ln w="12700">
              <a:solidFill>
                <a:srgbClr val="FFB300"/>
              </a:solidFill>
              <a:prstDash val="solid"/>
            </a:ln>
          </p:spPr>
          <p:txBody>
            <a:bodyPr/>
            <a:lstStyle/>
            <a:p>
              <a:endParaRPr lang="en-US"/>
            </a:p>
          </p:txBody>
        </p:sp>
        <p:sp>
          <p:nvSpPr>
            <p:cNvPr id="25" name="Shape 21"/>
            <p:cNvSpPr/>
            <p:nvPr/>
          </p:nvSpPr>
          <p:spPr>
            <a:xfrm>
              <a:off x="3310128" y="2880360"/>
              <a:ext cx="457200" cy="457200"/>
            </a:xfrm>
            <a:prstGeom prst="ellipse">
              <a:avLst/>
            </a:prstGeom>
            <a:solidFill>
              <a:srgbClr val="FFB300">
                <a:alpha val="80000"/>
              </a:srgbClr>
            </a:solidFill>
            <a:ln w="12700">
              <a:solidFill>
                <a:srgbClr val="FFB300"/>
              </a:solidFill>
              <a:prstDash val="solid"/>
            </a:ln>
          </p:spPr>
          <p:txBody>
            <a:bodyPr/>
            <a:lstStyle/>
            <a:p>
              <a:endParaRPr lang="en-US"/>
            </a:p>
          </p:txBody>
        </p:sp>
        <p:sp>
          <p:nvSpPr>
            <p:cNvPr id="26" name="Text 22"/>
            <p:cNvSpPr/>
            <p:nvPr/>
          </p:nvSpPr>
          <p:spPr>
            <a:xfrm>
              <a:off x="3310128" y="288036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L</a:t>
              </a:r>
              <a:endParaRPr lang="en-US" sz="1400" dirty="0"/>
            </a:p>
          </p:txBody>
        </p:sp>
        <p:sp>
          <p:nvSpPr>
            <p:cNvPr id="27" name="Text 23"/>
            <p:cNvSpPr/>
            <p:nvPr/>
          </p:nvSpPr>
          <p:spPr>
            <a:xfrm>
              <a:off x="3858768" y="2761488"/>
              <a:ext cx="2011680" cy="347472"/>
            </a:xfrm>
            <a:prstGeom prst="rect">
              <a:avLst/>
            </a:prstGeom>
            <a:noFill/>
            <a:ln/>
          </p:spPr>
          <p:txBody>
            <a:bodyPr wrap="square" rtlCol="0" anchor="ctr"/>
            <a:lstStyle/>
            <a:p>
              <a:r>
                <a:rPr lang="en-US" sz="1300" b="1" dirty="0" err="1">
                  <a:solidFill>
                    <a:srgbClr val="F1F5FB"/>
                  </a:solidFill>
                  <a:latin typeface="Calibri" pitchFamily="34" charset="0"/>
                  <a:ea typeface="Calibri" pitchFamily="34" charset="-122"/>
                  <a:cs typeface="Calibri" pitchFamily="34" charset="-120"/>
                </a:rPr>
                <a:t>Logeen</a:t>
              </a:r>
              <a:r>
                <a:rPr lang="en-US" sz="1300" b="1" dirty="0">
                  <a:solidFill>
                    <a:srgbClr val="F1F5FB"/>
                  </a:solidFill>
                  <a:latin typeface="Calibri" pitchFamily="34" charset="0"/>
                  <a:ea typeface="Calibri" pitchFamily="34" charset="-122"/>
                  <a:cs typeface="Calibri" pitchFamily="34" charset="-120"/>
                </a:rPr>
                <a:t> Mohammed</a:t>
              </a:r>
              <a:endParaRPr lang="en-US" sz="1300" dirty="0"/>
            </a:p>
          </p:txBody>
        </p:sp>
        <p:sp>
          <p:nvSpPr>
            <p:cNvPr id="28" name="Text 24"/>
            <p:cNvSpPr/>
            <p:nvPr/>
          </p:nvSpPr>
          <p:spPr>
            <a:xfrm>
              <a:off x="3858768" y="3108960"/>
              <a:ext cx="2011680" cy="292608"/>
            </a:xfrm>
            <a:prstGeom prst="rect">
              <a:avLst/>
            </a:prstGeom>
            <a:noFill/>
            <a:ln/>
          </p:spPr>
          <p:txBody>
            <a:bodyPr wrap="square" rtlCol="0" anchor="ctr"/>
            <a:lstStyle/>
            <a:p>
              <a:pPr marL="0" indent="0">
                <a:buNone/>
              </a:pPr>
              <a:r>
                <a:rPr lang="en-US" sz="1000" dirty="0">
                  <a:solidFill>
                    <a:srgbClr val="FFB300"/>
                  </a:solidFill>
                  <a:latin typeface="Calibri" pitchFamily="34" charset="0"/>
                  <a:ea typeface="Calibri" pitchFamily="34" charset="-122"/>
                  <a:cs typeface="Calibri" pitchFamily="34" charset="-120"/>
                </a:rPr>
                <a:t>Software Testing</a:t>
              </a:r>
            </a:p>
          </p:txBody>
        </p:sp>
      </p:grpSp>
      <p:grpSp>
        <p:nvGrpSpPr>
          <p:cNvPr id="64" name="Group 63">
            <a:extLst>
              <a:ext uri="{FF2B5EF4-FFF2-40B4-BE49-F238E27FC236}">
                <a16:creationId xmlns:a16="http://schemas.microsoft.com/office/drawing/2014/main" id="{074AB7B8-FD8D-C28F-DD24-3EB15639303F}"/>
              </a:ext>
            </a:extLst>
          </p:cNvPr>
          <p:cNvGrpSpPr/>
          <p:nvPr/>
        </p:nvGrpSpPr>
        <p:grpSpPr>
          <a:xfrm>
            <a:off x="274320" y="3749040"/>
            <a:ext cx="2743200" cy="914400"/>
            <a:chOff x="274320" y="3749040"/>
            <a:chExt cx="2743200" cy="914400"/>
          </a:xfrm>
        </p:grpSpPr>
        <p:sp>
          <p:nvSpPr>
            <p:cNvPr id="29" name="Shape 25"/>
            <p:cNvSpPr/>
            <p:nvPr/>
          </p:nvSpPr>
          <p:spPr>
            <a:xfrm>
              <a:off x="274320" y="3749040"/>
              <a:ext cx="2743200" cy="914400"/>
            </a:xfrm>
            <a:prstGeom prst="roundRect">
              <a:avLst>
                <a:gd name="adj" fmla="val 8000"/>
              </a:avLst>
            </a:prstGeom>
            <a:solidFill>
              <a:srgbClr val="1A2340"/>
            </a:solidFill>
            <a:ln w="12700">
              <a:solidFill>
                <a:srgbClr val="FF5252"/>
              </a:solidFill>
              <a:prstDash val="solid"/>
            </a:ln>
          </p:spPr>
          <p:txBody>
            <a:bodyPr/>
            <a:lstStyle/>
            <a:p>
              <a:endParaRPr lang="en-US"/>
            </a:p>
          </p:txBody>
        </p:sp>
        <p:sp>
          <p:nvSpPr>
            <p:cNvPr id="30" name="Shape 26"/>
            <p:cNvSpPr/>
            <p:nvPr/>
          </p:nvSpPr>
          <p:spPr>
            <a:xfrm>
              <a:off x="384048" y="3977640"/>
              <a:ext cx="457200" cy="457200"/>
            </a:xfrm>
            <a:prstGeom prst="ellipse">
              <a:avLst/>
            </a:prstGeom>
            <a:solidFill>
              <a:srgbClr val="FF5252">
                <a:alpha val="80000"/>
              </a:srgbClr>
            </a:solidFill>
            <a:ln w="12700">
              <a:solidFill>
                <a:srgbClr val="FF5252"/>
              </a:solidFill>
              <a:prstDash val="solid"/>
            </a:ln>
          </p:spPr>
          <p:txBody>
            <a:bodyPr/>
            <a:lstStyle/>
            <a:p>
              <a:endParaRPr lang="en-US"/>
            </a:p>
          </p:txBody>
        </p:sp>
        <p:sp>
          <p:nvSpPr>
            <p:cNvPr id="31" name="Text 27"/>
            <p:cNvSpPr/>
            <p:nvPr/>
          </p:nvSpPr>
          <p:spPr>
            <a:xfrm>
              <a:off x="384048" y="397764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N</a:t>
              </a:r>
              <a:endParaRPr lang="en-US" sz="1400" dirty="0"/>
            </a:p>
          </p:txBody>
        </p:sp>
        <p:sp>
          <p:nvSpPr>
            <p:cNvPr id="32" name="Text 28"/>
            <p:cNvSpPr/>
            <p:nvPr/>
          </p:nvSpPr>
          <p:spPr>
            <a:xfrm>
              <a:off x="932688" y="3858768"/>
              <a:ext cx="2011680" cy="347472"/>
            </a:xfrm>
            <a:prstGeom prst="rect">
              <a:avLst/>
            </a:prstGeom>
            <a:noFill/>
            <a:ln/>
          </p:spPr>
          <p:txBody>
            <a:bodyPr wrap="square" rtlCol="0" anchor="ctr"/>
            <a:lstStyle/>
            <a:p>
              <a:r>
                <a:rPr lang="en-US" sz="1300" b="1" dirty="0">
                  <a:solidFill>
                    <a:srgbClr val="F1F5FB"/>
                  </a:solidFill>
                  <a:latin typeface="Calibri" pitchFamily="34" charset="0"/>
                  <a:ea typeface="Calibri" pitchFamily="34" charset="-122"/>
                  <a:cs typeface="Calibri" pitchFamily="34" charset="-120"/>
                </a:rPr>
                <a:t>Nouran Mohamed</a:t>
              </a:r>
              <a:endParaRPr lang="en-US" sz="1300" dirty="0"/>
            </a:p>
          </p:txBody>
        </p:sp>
        <p:sp>
          <p:nvSpPr>
            <p:cNvPr id="33" name="Text 29"/>
            <p:cNvSpPr/>
            <p:nvPr/>
          </p:nvSpPr>
          <p:spPr>
            <a:xfrm>
              <a:off x="932688" y="4206240"/>
              <a:ext cx="2011680" cy="292608"/>
            </a:xfrm>
            <a:prstGeom prst="rect">
              <a:avLst/>
            </a:prstGeom>
            <a:noFill/>
            <a:ln/>
          </p:spPr>
          <p:txBody>
            <a:bodyPr wrap="square" rtlCol="0" anchor="ctr"/>
            <a:lstStyle/>
            <a:p>
              <a:pPr marL="0" indent="0">
                <a:buNone/>
              </a:pPr>
              <a:r>
                <a:rPr lang="en-US" sz="1000" dirty="0">
                  <a:solidFill>
                    <a:srgbClr val="FF5252"/>
                  </a:solidFill>
                  <a:latin typeface="Calibri" pitchFamily="34" charset="0"/>
                  <a:ea typeface="Calibri" pitchFamily="34" charset="-122"/>
                  <a:cs typeface="Calibri" pitchFamily="34" charset="-120"/>
                </a:rPr>
                <a:t>Software Testing</a:t>
              </a:r>
            </a:p>
          </p:txBody>
        </p:sp>
      </p:grpSp>
      <p:sp>
        <p:nvSpPr>
          <p:cNvPr id="34" name="Shape 30"/>
          <p:cNvSpPr/>
          <p:nvPr/>
        </p:nvSpPr>
        <p:spPr>
          <a:xfrm>
            <a:off x="6126480" y="1143000"/>
            <a:ext cx="2834640" cy="868680"/>
          </a:xfrm>
          <a:prstGeom prst="roundRect">
            <a:avLst>
              <a:gd name="adj" fmla="val 8421"/>
            </a:avLst>
          </a:prstGeom>
          <a:solidFill>
            <a:srgbClr val="141B2D"/>
          </a:solidFill>
          <a:ln w="12700">
            <a:solidFill>
              <a:srgbClr val="1E2D4A"/>
            </a:solidFill>
            <a:prstDash val="solid"/>
          </a:ln>
        </p:spPr>
        <p:txBody>
          <a:bodyPr/>
          <a:lstStyle/>
          <a:p>
            <a:endParaRPr lang="en-US"/>
          </a:p>
        </p:txBody>
      </p:sp>
      <p:sp>
        <p:nvSpPr>
          <p:cNvPr id="35" name="Text 31"/>
          <p:cNvSpPr/>
          <p:nvPr/>
        </p:nvSpPr>
        <p:spPr>
          <a:xfrm>
            <a:off x="6263640" y="121615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Project Name</a:t>
            </a:r>
            <a:endParaRPr lang="en-US" sz="1000" dirty="0"/>
          </a:p>
        </p:txBody>
      </p:sp>
      <p:sp>
        <p:nvSpPr>
          <p:cNvPr id="36" name="Text 32"/>
          <p:cNvSpPr/>
          <p:nvPr/>
        </p:nvSpPr>
        <p:spPr>
          <a:xfrm>
            <a:off x="6263640" y="1490472"/>
            <a:ext cx="2651760" cy="384048"/>
          </a:xfrm>
          <a:prstGeom prst="rect">
            <a:avLst/>
          </a:prstGeom>
          <a:noFill/>
          <a:ln/>
        </p:spPr>
        <p:txBody>
          <a:bodyPr wrap="square" rtlCol="0" anchor="ctr"/>
          <a:lstStyle/>
          <a:p>
            <a:r>
              <a:rPr lang="en-US" sz="1200" dirty="0">
                <a:solidFill>
                  <a:srgbClr val="8892A4"/>
                </a:solidFill>
                <a:latin typeface="Calibri" pitchFamily="34" charset="0"/>
                <a:ea typeface="Calibri" pitchFamily="34" charset="-122"/>
                <a:cs typeface="Calibri" pitchFamily="34" charset="-120"/>
              </a:rPr>
              <a:t>Binance Testing</a:t>
            </a:r>
            <a:endParaRPr lang="en-US" sz="1200" dirty="0"/>
          </a:p>
        </p:txBody>
      </p:sp>
      <p:sp>
        <p:nvSpPr>
          <p:cNvPr id="37" name="Shape 33"/>
          <p:cNvSpPr/>
          <p:nvPr/>
        </p:nvSpPr>
        <p:spPr>
          <a:xfrm>
            <a:off x="6126480" y="2194560"/>
            <a:ext cx="2834640" cy="868680"/>
          </a:xfrm>
          <a:prstGeom prst="roundRect">
            <a:avLst>
              <a:gd name="adj" fmla="val 8421"/>
            </a:avLst>
          </a:prstGeom>
          <a:solidFill>
            <a:srgbClr val="141B2D"/>
          </a:solidFill>
          <a:ln w="12700">
            <a:solidFill>
              <a:srgbClr val="1E2D4A"/>
            </a:solidFill>
            <a:prstDash val="solid"/>
          </a:ln>
        </p:spPr>
        <p:txBody>
          <a:bodyPr/>
          <a:lstStyle/>
          <a:p>
            <a:endParaRPr lang="en-US"/>
          </a:p>
        </p:txBody>
      </p:sp>
      <p:sp>
        <p:nvSpPr>
          <p:cNvPr id="38" name="Text 34"/>
          <p:cNvSpPr/>
          <p:nvPr/>
        </p:nvSpPr>
        <p:spPr>
          <a:xfrm>
            <a:off x="6263640" y="226771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Tech Stack</a:t>
            </a:r>
            <a:endParaRPr lang="en-US" sz="1000" dirty="0"/>
          </a:p>
        </p:txBody>
      </p:sp>
      <p:sp>
        <p:nvSpPr>
          <p:cNvPr id="39" name="Text 35"/>
          <p:cNvSpPr/>
          <p:nvPr/>
        </p:nvSpPr>
        <p:spPr>
          <a:xfrm>
            <a:off x="6263640" y="2542032"/>
            <a:ext cx="2651760" cy="384048"/>
          </a:xfrm>
          <a:prstGeom prst="rect">
            <a:avLst/>
          </a:prstGeom>
          <a:noFill/>
          <a:ln/>
        </p:spPr>
        <p:txBody>
          <a:bodyPr wrap="square" rtlCol="0" anchor="ctr"/>
          <a:lstStyle/>
          <a:p>
            <a:pPr marL="0" indent="0">
              <a:buNone/>
            </a:pPr>
            <a:r>
              <a:rPr lang="en-US" sz="1200" dirty="0">
                <a:solidFill>
                  <a:srgbClr val="8892A4"/>
                </a:solidFill>
                <a:latin typeface="Calibri" pitchFamily="34" charset="0"/>
                <a:ea typeface="Calibri" pitchFamily="34" charset="-122"/>
                <a:cs typeface="Calibri" pitchFamily="34" charset="-120"/>
              </a:rPr>
              <a:t>API by Postman</a:t>
            </a:r>
          </a:p>
          <a:p>
            <a:pPr marL="0" indent="0">
              <a:buNone/>
            </a:pPr>
            <a:r>
              <a:rPr lang="en-US" sz="1200" dirty="0">
                <a:solidFill>
                  <a:srgbClr val="8892A4"/>
                </a:solidFill>
                <a:latin typeface="Calibri" pitchFamily="34" charset="0"/>
                <a:ea typeface="Calibri" pitchFamily="34" charset="-122"/>
                <a:cs typeface="Calibri" pitchFamily="34" charset="-120"/>
              </a:rPr>
              <a:t>Automation by Selenium</a:t>
            </a:r>
            <a:endParaRPr lang="en-US" sz="1200" dirty="0"/>
          </a:p>
        </p:txBody>
      </p:sp>
      <p:sp>
        <p:nvSpPr>
          <p:cNvPr id="40" name="Shape 36"/>
          <p:cNvSpPr/>
          <p:nvPr/>
        </p:nvSpPr>
        <p:spPr>
          <a:xfrm>
            <a:off x="6126480" y="3246120"/>
            <a:ext cx="2834640" cy="868680"/>
          </a:xfrm>
          <a:prstGeom prst="roundRect">
            <a:avLst>
              <a:gd name="adj" fmla="val 8421"/>
            </a:avLst>
          </a:prstGeom>
          <a:solidFill>
            <a:srgbClr val="141B2D"/>
          </a:solidFill>
          <a:ln w="12700">
            <a:solidFill>
              <a:srgbClr val="1E2D4A"/>
            </a:solidFill>
            <a:prstDash val="solid"/>
          </a:ln>
        </p:spPr>
        <p:txBody>
          <a:bodyPr/>
          <a:lstStyle/>
          <a:p>
            <a:endParaRPr lang="en-US"/>
          </a:p>
        </p:txBody>
      </p:sp>
      <p:sp>
        <p:nvSpPr>
          <p:cNvPr id="41" name="Text 37"/>
          <p:cNvSpPr/>
          <p:nvPr/>
        </p:nvSpPr>
        <p:spPr>
          <a:xfrm>
            <a:off x="6263640" y="3319272"/>
            <a:ext cx="2651760" cy="274320"/>
          </a:xfrm>
          <a:prstGeom prst="rect">
            <a:avLst/>
          </a:prstGeom>
          <a:noFill/>
          <a:ln/>
        </p:spPr>
        <p:txBody>
          <a:bodyPr wrap="square" rtlCol="0" anchor="ctr"/>
          <a:lstStyle/>
          <a:p>
            <a:pPr marL="0" indent="0">
              <a:buNone/>
            </a:pPr>
            <a:r>
              <a:rPr lang="en-US" sz="1000" b="1" dirty="0">
                <a:solidFill>
                  <a:srgbClr val="4FC3F7"/>
                </a:solidFill>
                <a:latin typeface="Calibri" pitchFamily="34" charset="0"/>
                <a:ea typeface="Calibri" pitchFamily="34" charset="-122"/>
                <a:cs typeface="Calibri" pitchFamily="34" charset="-120"/>
              </a:rPr>
              <a:t>Supervisor</a:t>
            </a:r>
            <a:endParaRPr lang="en-US" sz="1000" dirty="0"/>
          </a:p>
        </p:txBody>
      </p:sp>
      <p:sp>
        <p:nvSpPr>
          <p:cNvPr id="42" name="Text 38"/>
          <p:cNvSpPr/>
          <p:nvPr/>
        </p:nvSpPr>
        <p:spPr>
          <a:xfrm>
            <a:off x="6263640" y="3593592"/>
            <a:ext cx="2651760" cy="384048"/>
          </a:xfrm>
          <a:prstGeom prst="rect">
            <a:avLst/>
          </a:prstGeom>
          <a:noFill/>
          <a:ln/>
        </p:spPr>
        <p:txBody>
          <a:bodyPr wrap="square" rtlCol="0" anchor="ctr"/>
          <a:lstStyle/>
          <a:p>
            <a:pPr marL="0" indent="0">
              <a:buNone/>
            </a:pPr>
            <a:r>
              <a:rPr lang="en-US" sz="1200" dirty="0">
                <a:solidFill>
                  <a:srgbClr val="8892A4"/>
                </a:solidFill>
                <a:latin typeface="Calibri" pitchFamily="34" charset="0"/>
                <a:ea typeface="Calibri" pitchFamily="34" charset="-122"/>
                <a:cs typeface="Calibri" pitchFamily="34" charset="-120"/>
              </a:rPr>
              <a:t>Basil</a:t>
            </a:r>
            <a:endParaRPr lang="en-US" sz="1200" dirty="0"/>
          </a:p>
        </p:txBody>
      </p:sp>
      <p:grpSp>
        <p:nvGrpSpPr>
          <p:cNvPr id="55" name="Group 54">
            <a:extLst>
              <a:ext uri="{FF2B5EF4-FFF2-40B4-BE49-F238E27FC236}">
                <a16:creationId xmlns:a16="http://schemas.microsoft.com/office/drawing/2014/main" id="{2711685A-1F4A-7DD8-0D72-3D185C923A65}"/>
              </a:ext>
            </a:extLst>
          </p:cNvPr>
          <p:cNvGrpSpPr/>
          <p:nvPr/>
        </p:nvGrpSpPr>
        <p:grpSpPr>
          <a:xfrm>
            <a:off x="3200400" y="3749040"/>
            <a:ext cx="2743200" cy="914400"/>
            <a:chOff x="3200400" y="1554480"/>
            <a:chExt cx="2743200" cy="914400"/>
          </a:xfrm>
        </p:grpSpPr>
        <p:sp>
          <p:nvSpPr>
            <p:cNvPr id="56" name="Shape 10">
              <a:extLst>
                <a:ext uri="{FF2B5EF4-FFF2-40B4-BE49-F238E27FC236}">
                  <a16:creationId xmlns:a16="http://schemas.microsoft.com/office/drawing/2014/main" id="{66927CF4-9EEA-4EF5-74C2-D34CE5FD25E2}"/>
                </a:ext>
              </a:extLst>
            </p:cNvPr>
            <p:cNvSpPr/>
            <p:nvPr/>
          </p:nvSpPr>
          <p:spPr>
            <a:xfrm>
              <a:off x="3200400" y="1554480"/>
              <a:ext cx="2743200" cy="914400"/>
            </a:xfrm>
            <a:prstGeom prst="roundRect">
              <a:avLst>
                <a:gd name="adj" fmla="val 8000"/>
              </a:avLst>
            </a:prstGeom>
            <a:solidFill>
              <a:srgbClr val="1A2340"/>
            </a:solidFill>
            <a:ln w="12700">
              <a:solidFill>
                <a:srgbClr val="4FC3F7"/>
              </a:solidFill>
              <a:prstDash val="solid"/>
            </a:ln>
          </p:spPr>
          <p:txBody>
            <a:bodyPr/>
            <a:lstStyle/>
            <a:p>
              <a:endParaRPr lang="en-US"/>
            </a:p>
          </p:txBody>
        </p:sp>
        <p:sp>
          <p:nvSpPr>
            <p:cNvPr id="57" name="Shape 11">
              <a:extLst>
                <a:ext uri="{FF2B5EF4-FFF2-40B4-BE49-F238E27FC236}">
                  <a16:creationId xmlns:a16="http://schemas.microsoft.com/office/drawing/2014/main" id="{95EB4BB0-C809-C8F5-F0A6-6CEF3DB54919}"/>
                </a:ext>
              </a:extLst>
            </p:cNvPr>
            <p:cNvSpPr/>
            <p:nvPr/>
          </p:nvSpPr>
          <p:spPr>
            <a:xfrm>
              <a:off x="3310128" y="1783080"/>
              <a:ext cx="457200" cy="457200"/>
            </a:xfrm>
            <a:prstGeom prst="ellipse">
              <a:avLst/>
            </a:prstGeom>
            <a:solidFill>
              <a:srgbClr val="4FC3F7">
                <a:alpha val="80000"/>
              </a:srgbClr>
            </a:solidFill>
            <a:ln w="12700">
              <a:solidFill>
                <a:srgbClr val="4FC3F7"/>
              </a:solidFill>
              <a:prstDash val="solid"/>
            </a:ln>
          </p:spPr>
          <p:txBody>
            <a:bodyPr/>
            <a:lstStyle/>
            <a:p>
              <a:endParaRPr lang="en-US" dirty="0"/>
            </a:p>
          </p:txBody>
        </p:sp>
        <p:sp>
          <p:nvSpPr>
            <p:cNvPr id="58" name="Text 12">
              <a:extLst>
                <a:ext uri="{FF2B5EF4-FFF2-40B4-BE49-F238E27FC236}">
                  <a16:creationId xmlns:a16="http://schemas.microsoft.com/office/drawing/2014/main" id="{90DA3354-8BF8-0155-3830-2FFE9FC8B185}"/>
                </a:ext>
              </a:extLst>
            </p:cNvPr>
            <p:cNvSpPr/>
            <p:nvPr/>
          </p:nvSpPr>
          <p:spPr>
            <a:xfrm>
              <a:off x="3310128" y="1783080"/>
              <a:ext cx="457200" cy="457200"/>
            </a:xfrm>
            <a:prstGeom prst="rect">
              <a:avLst/>
            </a:prstGeom>
            <a:noFill/>
            <a:ln/>
          </p:spPr>
          <p:txBody>
            <a:bodyPr wrap="square" rtlCol="0" anchor="ctr"/>
            <a:lstStyle/>
            <a:p>
              <a:pPr marL="0" indent="0" algn="ctr">
                <a:buNone/>
              </a:pPr>
              <a:r>
                <a:rPr lang="en-US" sz="1400" b="1" dirty="0">
                  <a:solidFill>
                    <a:srgbClr val="F1F5FB"/>
                  </a:solidFill>
                  <a:latin typeface="Calibri" pitchFamily="34" charset="0"/>
                  <a:ea typeface="Calibri" pitchFamily="34" charset="-122"/>
                  <a:cs typeface="Calibri" pitchFamily="34" charset="-120"/>
                </a:rPr>
                <a:t>A</a:t>
              </a:r>
              <a:endParaRPr lang="en-US" sz="1400" dirty="0"/>
            </a:p>
          </p:txBody>
        </p:sp>
        <p:sp>
          <p:nvSpPr>
            <p:cNvPr id="59" name="Text 13">
              <a:extLst>
                <a:ext uri="{FF2B5EF4-FFF2-40B4-BE49-F238E27FC236}">
                  <a16:creationId xmlns:a16="http://schemas.microsoft.com/office/drawing/2014/main" id="{7E9F53B0-C4D0-1C43-1537-3FCEAC7EA05B}"/>
                </a:ext>
              </a:extLst>
            </p:cNvPr>
            <p:cNvSpPr/>
            <p:nvPr/>
          </p:nvSpPr>
          <p:spPr>
            <a:xfrm>
              <a:off x="3858768" y="1664208"/>
              <a:ext cx="2011680" cy="347472"/>
            </a:xfrm>
            <a:prstGeom prst="rect">
              <a:avLst/>
            </a:prstGeom>
            <a:noFill/>
            <a:ln/>
          </p:spPr>
          <p:txBody>
            <a:bodyPr wrap="square" rtlCol="0" anchor="ctr"/>
            <a:lstStyle/>
            <a:p>
              <a:r>
                <a:rPr lang="en-US" sz="1300" b="1" dirty="0">
                  <a:solidFill>
                    <a:srgbClr val="F1F5FB"/>
                  </a:solidFill>
                  <a:latin typeface="Calibri" pitchFamily="34" charset="0"/>
                  <a:ea typeface="Calibri" pitchFamily="34" charset="-122"/>
                  <a:cs typeface="Calibri" pitchFamily="34" charset="-120"/>
                </a:rPr>
                <a:t>Ahmed Anwer</a:t>
              </a:r>
              <a:endParaRPr lang="en-US" sz="1300" dirty="0"/>
            </a:p>
          </p:txBody>
        </p:sp>
        <p:sp>
          <p:nvSpPr>
            <p:cNvPr id="60" name="Text 14">
              <a:extLst>
                <a:ext uri="{FF2B5EF4-FFF2-40B4-BE49-F238E27FC236}">
                  <a16:creationId xmlns:a16="http://schemas.microsoft.com/office/drawing/2014/main" id="{B5E6114B-E2FA-6872-6A0A-DB7F51394B54}"/>
                </a:ext>
              </a:extLst>
            </p:cNvPr>
            <p:cNvSpPr/>
            <p:nvPr/>
          </p:nvSpPr>
          <p:spPr>
            <a:xfrm>
              <a:off x="3858768" y="2011680"/>
              <a:ext cx="2011680" cy="292608"/>
            </a:xfrm>
            <a:prstGeom prst="rect">
              <a:avLst/>
            </a:prstGeom>
            <a:noFill/>
            <a:ln/>
          </p:spPr>
          <p:txBody>
            <a:bodyPr wrap="square" rtlCol="0" anchor="ctr"/>
            <a:lstStyle/>
            <a:p>
              <a:pPr marL="0" indent="0">
                <a:buNone/>
              </a:pPr>
              <a:r>
                <a:rPr lang="en-US" sz="1000" dirty="0">
                  <a:solidFill>
                    <a:srgbClr val="4FC3F7"/>
                  </a:solidFill>
                  <a:latin typeface="Calibri" pitchFamily="34" charset="0"/>
                  <a:ea typeface="Calibri" pitchFamily="34" charset="-122"/>
                  <a:cs typeface="Calibri" pitchFamily="34" charset="-120"/>
                </a:rPr>
                <a:t>Software Testing</a:t>
              </a:r>
              <a:endParaRPr lang="en-US" sz="1000" dirty="0"/>
            </a:p>
          </p:txBody>
        </p:sp>
      </p:gr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4" fill="hold" nodeType="clickEffect">
                                  <p:stCondLst>
                                    <p:cond delay="0"/>
                                  </p:stCondLst>
                                  <p:childTnLst>
                                    <p:set>
                                      <p:cBhvr>
                                        <p:cTn id="10" dur="1" fill="hold">
                                          <p:stCondLst>
                                            <p:cond delay="0"/>
                                          </p:stCondLst>
                                        </p:cTn>
                                        <p:tgtEl>
                                          <p:spTgt spid="48"/>
                                        </p:tgtEl>
                                        <p:attrNameLst>
                                          <p:attrName>style.visibility</p:attrName>
                                        </p:attrNameLst>
                                      </p:cBhvr>
                                      <p:to>
                                        <p:strVal val="visible"/>
                                      </p:to>
                                    </p:set>
                                    <p:anim calcmode="lin" valueType="num">
                                      <p:cBhvr additive="base">
                                        <p:cTn id="11" dur="500" fill="hold"/>
                                        <p:tgtEl>
                                          <p:spTgt spid="48"/>
                                        </p:tgtEl>
                                        <p:attrNameLst>
                                          <p:attrName>ppt_x</p:attrName>
                                        </p:attrNameLst>
                                      </p:cBhvr>
                                      <p:tavLst>
                                        <p:tav tm="0">
                                          <p:val>
                                            <p:strVal val="#ppt_x"/>
                                          </p:val>
                                        </p:tav>
                                        <p:tav tm="100000">
                                          <p:val>
                                            <p:strVal val="#ppt_x"/>
                                          </p:val>
                                        </p:tav>
                                      </p:tavLst>
                                    </p:anim>
                                    <p:anim calcmode="lin" valueType="num">
                                      <p:cBhvr additive="base">
                                        <p:cTn id="12" dur="500" fill="hold"/>
                                        <p:tgtEl>
                                          <p:spTgt spid="48"/>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fade">
                                      <p:cBhvr>
                                        <p:cTn id="17" dur="1000"/>
                                        <p:tgtEl>
                                          <p:spTgt spid="62"/>
                                        </p:tgtEl>
                                      </p:cBhvr>
                                    </p:animEffect>
                                    <p:anim calcmode="lin" valueType="num">
                                      <p:cBhvr>
                                        <p:cTn id="18" dur="1000" fill="hold"/>
                                        <p:tgtEl>
                                          <p:spTgt spid="62"/>
                                        </p:tgtEl>
                                        <p:attrNameLst>
                                          <p:attrName>ppt_x</p:attrName>
                                        </p:attrNameLst>
                                      </p:cBhvr>
                                      <p:tavLst>
                                        <p:tav tm="0">
                                          <p:val>
                                            <p:strVal val="#ppt_x"/>
                                          </p:val>
                                        </p:tav>
                                        <p:tav tm="100000">
                                          <p:val>
                                            <p:strVal val="#ppt_x"/>
                                          </p:val>
                                        </p:tav>
                                      </p:tavLst>
                                    </p:anim>
                                    <p:anim calcmode="lin" valueType="num">
                                      <p:cBhvr>
                                        <p:cTn id="19"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6" presetClass="entr" presetSubtype="21" fill="hold" nodeType="clickEffect">
                                  <p:stCondLst>
                                    <p:cond delay="0"/>
                                  </p:stCondLst>
                                  <p:childTnLst>
                                    <p:set>
                                      <p:cBhvr>
                                        <p:cTn id="23" dur="1" fill="hold">
                                          <p:stCondLst>
                                            <p:cond delay="0"/>
                                          </p:stCondLst>
                                        </p:cTn>
                                        <p:tgtEl>
                                          <p:spTgt spid="63"/>
                                        </p:tgtEl>
                                        <p:attrNameLst>
                                          <p:attrName>style.visibility</p:attrName>
                                        </p:attrNameLst>
                                      </p:cBhvr>
                                      <p:to>
                                        <p:strVal val="visible"/>
                                      </p:to>
                                    </p:set>
                                    <p:animEffect transition="in" filter="barn(inVertical)">
                                      <p:cBhvr>
                                        <p:cTn id="24" dur="500"/>
                                        <p:tgtEl>
                                          <p:spTgt spid="63"/>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16" fill="hold" nodeType="clickEffect">
                                  <p:stCondLst>
                                    <p:cond delay="0"/>
                                  </p:stCondLst>
                                  <p:childTnLst>
                                    <p:set>
                                      <p:cBhvr>
                                        <p:cTn id="28" dur="1" fill="hold">
                                          <p:stCondLst>
                                            <p:cond delay="0"/>
                                          </p:stCondLst>
                                        </p:cTn>
                                        <p:tgtEl>
                                          <p:spTgt spid="64"/>
                                        </p:tgtEl>
                                        <p:attrNameLst>
                                          <p:attrName>style.visibility</p:attrName>
                                        </p:attrNameLst>
                                      </p:cBhvr>
                                      <p:to>
                                        <p:strVal val="visible"/>
                                      </p:to>
                                    </p:set>
                                    <p:animEffect transition="in" filter="circle(in)">
                                      <p:cBhvr>
                                        <p:cTn id="29" dur="2000"/>
                                        <p:tgtEl>
                                          <p:spTgt spid="6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55"/>
                                        </p:tgtEl>
                                        <p:attrNameLst>
                                          <p:attrName>style.visibility</p:attrName>
                                        </p:attrNameLst>
                                      </p:cBhvr>
                                      <p:to>
                                        <p:strVal val="visible"/>
                                      </p:to>
                                    </p:set>
                                    <p:animEffect transition="in" filter="fade">
                                      <p:cBhvr>
                                        <p:cTn id="34"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566928"/>
          </a:xfrm>
          <a:prstGeom prst="rect">
            <a:avLst/>
          </a:prstGeom>
        </p:spPr>
      </p:pic>
      <p:sp>
        <p:nvSpPr>
          <p:cNvPr id="4" name="Shape 0"/>
          <p:cNvSpPr/>
          <p:nvPr/>
        </p:nvSpPr>
        <p:spPr>
          <a:xfrm>
            <a:off x="5303520" y="818388"/>
            <a:ext cx="3840480" cy="4325112"/>
          </a:xfrm>
          <a:prstGeom prst="rect">
            <a:avLst/>
          </a:prstGeom>
          <a:solidFill>
            <a:srgbClr val="141B2D"/>
          </a:solidFill>
          <a:ln w="12700">
            <a:solidFill>
              <a:srgbClr val="1E2D4A"/>
            </a:solidFill>
            <a:prstDash val="solid"/>
          </a:ln>
        </p:spPr>
        <p:txBody>
          <a:bodyPr/>
          <a:lstStyle/>
          <a:p>
            <a:endParaRPr lang="en-US"/>
          </a:p>
        </p:txBody>
      </p:sp>
      <p:sp>
        <p:nvSpPr>
          <p:cNvPr id="5" name="Shape 1"/>
          <p:cNvSpPr/>
          <p:nvPr/>
        </p:nvSpPr>
        <p:spPr>
          <a:xfrm>
            <a:off x="5943600" y="640080"/>
            <a:ext cx="2926080" cy="2743200"/>
          </a:xfrm>
          <a:prstGeom prst="ellipse">
            <a:avLst/>
          </a:prstGeom>
          <a:solidFill>
            <a:srgbClr val="FF5252">
              <a:alpha val="10000"/>
            </a:srgbClr>
          </a:solidFill>
          <a:ln w="12700">
            <a:solidFill>
              <a:srgbClr val="FF5252"/>
            </a:solidFill>
            <a:prstDash val="solid"/>
          </a:ln>
        </p:spPr>
        <p:txBody>
          <a:bodyPr/>
          <a:lstStyle/>
          <a:p>
            <a:endParaRPr lang="en-US"/>
          </a:p>
        </p:txBody>
      </p:sp>
      <p:sp>
        <p:nvSpPr>
          <p:cNvPr id="6" name="Shape 2"/>
          <p:cNvSpPr/>
          <p:nvPr/>
        </p:nvSpPr>
        <p:spPr>
          <a:xfrm>
            <a:off x="859536" y="402336"/>
            <a:ext cx="838635" cy="347472"/>
          </a:xfrm>
          <a:prstGeom prst="roundRect">
            <a:avLst>
              <a:gd name="adj" fmla="val 13158"/>
            </a:avLst>
          </a:prstGeom>
          <a:solidFill>
            <a:srgbClr val="FF5252">
              <a:alpha val="20000"/>
            </a:srgbClr>
          </a:solidFill>
          <a:ln w="12700">
            <a:solidFill>
              <a:srgbClr val="FF5252"/>
            </a:solidFill>
            <a:prstDash val="solid"/>
          </a:ln>
        </p:spPr>
        <p:txBody>
          <a:bodyPr/>
          <a:lstStyle/>
          <a:p>
            <a:endParaRPr lang="en-US"/>
          </a:p>
        </p:txBody>
      </p:sp>
      <p:sp>
        <p:nvSpPr>
          <p:cNvPr id="7" name="Text 3"/>
          <p:cNvSpPr/>
          <p:nvPr/>
        </p:nvSpPr>
        <p:spPr>
          <a:xfrm>
            <a:off x="493776" y="402567"/>
            <a:ext cx="1645920" cy="347472"/>
          </a:xfrm>
          <a:prstGeom prst="rect">
            <a:avLst/>
          </a:prstGeom>
          <a:noFill/>
          <a:ln/>
        </p:spPr>
        <p:txBody>
          <a:bodyPr wrap="square" rtlCol="0" anchor="ctr"/>
          <a:lstStyle/>
          <a:p>
            <a:pPr marL="0" indent="0" algn="ctr">
              <a:buNone/>
            </a:pPr>
            <a:r>
              <a:rPr lang="en-US" sz="1100" b="1" kern="0" spc="200" dirty="0">
                <a:solidFill>
                  <a:srgbClr val="FF5252"/>
                </a:solidFill>
                <a:latin typeface="Calibri" pitchFamily="34" charset="0"/>
                <a:ea typeface="Calibri" pitchFamily="34" charset="-122"/>
                <a:cs typeface="Calibri" pitchFamily="34" charset="-120"/>
              </a:rPr>
              <a:t>PROBLEM</a:t>
            </a:r>
            <a:endParaRPr lang="en-US" sz="1100" dirty="0"/>
          </a:p>
        </p:txBody>
      </p:sp>
      <p:sp>
        <p:nvSpPr>
          <p:cNvPr id="8" name="Text 4"/>
          <p:cNvSpPr/>
          <p:nvPr/>
        </p:nvSpPr>
        <p:spPr>
          <a:xfrm>
            <a:off x="365760" y="822960"/>
            <a:ext cx="4572000" cy="594360"/>
          </a:xfrm>
          <a:prstGeom prst="rect">
            <a:avLst/>
          </a:prstGeom>
          <a:noFill/>
          <a:ln/>
        </p:spPr>
        <p:txBody>
          <a:bodyPr wrap="square" rtlCol="0" anchor="ctr"/>
          <a:lstStyle/>
          <a:p>
            <a:pPr marL="0" indent="0">
              <a:buNone/>
            </a:pPr>
            <a:r>
              <a:rPr lang="en-US" sz="3200" b="1" dirty="0">
                <a:solidFill>
                  <a:srgbClr val="F1F5FB"/>
                </a:solidFill>
                <a:latin typeface="Calibri" pitchFamily="34" charset="0"/>
                <a:ea typeface="Calibri" pitchFamily="34" charset="-122"/>
                <a:cs typeface="Calibri" pitchFamily="34" charset="-120"/>
              </a:rPr>
              <a:t>Problem</a:t>
            </a:r>
            <a:endParaRPr lang="en-US" sz="3200" dirty="0"/>
          </a:p>
        </p:txBody>
      </p:sp>
      <p:sp>
        <p:nvSpPr>
          <p:cNvPr id="9" name="Text 5"/>
          <p:cNvSpPr/>
          <p:nvPr/>
        </p:nvSpPr>
        <p:spPr>
          <a:xfrm>
            <a:off x="365760" y="1371600"/>
            <a:ext cx="4572000" cy="594360"/>
          </a:xfrm>
          <a:prstGeom prst="rect">
            <a:avLst/>
          </a:prstGeom>
          <a:noFill/>
          <a:ln/>
        </p:spPr>
        <p:txBody>
          <a:bodyPr wrap="square" rtlCol="0" anchor="ctr"/>
          <a:lstStyle/>
          <a:p>
            <a:pPr marL="0" indent="0">
              <a:buNone/>
            </a:pPr>
            <a:r>
              <a:rPr lang="en-US" sz="3200" b="1" dirty="0">
                <a:solidFill>
                  <a:srgbClr val="FF5252"/>
                </a:solidFill>
                <a:latin typeface="Calibri" pitchFamily="34" charset="0"/>
                <a:ea typeface="Calibri" pitchFamily="34" charset="-122"/>
                <a:cs typeface="Calibri" pitchFamily="34" charset="-120"/>
              </a:rPr>
              <a:t>Statement</a:t>
            </a:r>
            <a:endParaRPr lang="en-US" sz="3200" dirty="0"/>
          </a:p>
        </p:txBody>
      </p:sp>
      <p:sp>
        <p:nvSpPr>
          <p:cNvPr id="10" name="Shape 6"/>
          <p:cNvSpPr/>
          <p:nvPr/>
        </p:nvSpPr>
        <p:spPr>
          <a:xfrm>
            <a:off x="365760" y="2011680"/>
            <a:ext cx="3200400" cy="0"/>
          </a:xfrm>
          <a:prstGeom prst="line">
            <a:avLst/>
          </a:prstGeom>
          <a:noFill/>
          <a:ln w="6350">
            <a:solidFill>
              <a:srgbClr val="1E2D4A"/>
            </a:solidFill>
            <a:prstDash val="solid"/>
          </a:ln>
        </p:spPr>
        <p:txBody>
          <a:bodyPr/>
          <a:lstStyle/>
          <a:p>
            <a:endParaRPr lang="en-US"/>
          </a:p>
        </p:txBody>
      </p:sp>
      <p:sp>
        <p:nvSpPr>
          <p:cNvPr id="11" name="Text 7"/>
          <p:cNvSpPr/>
          <p:nvPr/>
        </p:nvSpPr>
        <p:spPr>
          <a:xfrm>
            <a:off x="109728" y="2011680"/>
            <a:ext cx="4919472" cy="3131820"/>
          </a:xfrm>
          <a:prstGeom prst="rect">
            <a:avLst/>
          </a:prstGeom>
          <a:noFill/>
          <a:ln/>
        </p:spPr>
        <p:txBody>
          <a:bodyPr wrap="square" rtlCol="0" anchor="ctr"/>
          <a:lstStyle/>
          <a:p>
            <a:r>
              <a:rPr lang="en-US" sz="1400" dirty="0">
                <a:solidFill>
                  <a:schemeClr val="bg2">
                    <a:lumMod val="90000"/>
                  </a:schemeClr>
                </a:solidFill>
              </a:rPr>
              <a:t>Web applications may contain:</a:t>
            </a:r>
          </a:p>
          <a:p>
            <a:r>
              <a:rPr lang="en-US" sz="1400" dirty="0">
                <a:solidFill>
                  <a:schemeClr val="bg2">
                    <a:lumMod val="90000"/>
                  </a:schemeClr>
                </a:solidFill>
              </a:rPr>
              <a:t>Functional defects. </a:t>
            </a:r>
          </a:p>
          <a:p>
            <a:r>
              <a:rPr lang="en-US" sz="1400" dirty="0">
                <a:solidFill>
                  <a:schemeClr val="bg2">
                    <a:lumMod val="90000"/>
                  </a:schemeClr>
                </a:solidFill>
              </a:rPr>
              <a:t>API failures. </a:t>
            </a:r>
          </a:p>
          <a:p>
            <a:r>
              <a:rPr lang="en-US" sz="1400" dirty="0">
                <a:solidFill>
                  <a:schemeClr val="bg2">
                    <a:lumMod val="90000"/>
                  </a:schemeClr>
                </a:solidFill>
              </a:rPr>
              <a:t>UI inconsistencies. </a:t>
            </a:r>
          </a:p>
          <a:p>
            <a:r>
              <a:rPr lang="en-US" sz="1400" dirty="0">
                <a:solidFill>
                  <a:schemeClr val="bg2">
                    <a:lumMod val="90000"/>
                  </a:schemeClr>
                </a:solidFill>
              </a:rPr>
              <a:t>Performance issues. </a:t>
            </a:r>
          </a:p>
          <a:p>
            <a:r>
              <a:rPr lang="en-US" sz="1400" dirty="0">
                <a:solidFill>
                  <a:schemeClr val="bg2">
                    <a:lumMod val="90000"/>
                  </a:schemeClr>
                </a:solidFill>
              </a:rPr>
              <a:t>These problems negatively affect user experience and business reliability.</a:t>
            </a:r>
          </a:p>
          <a:p>
            <a:r>
              <a:rPr lang="en-US" sz="1600" b="1" dirty="0">
                <a:solidFill>
                  <a:schemeClr val="bg2">
                    <a:lumMod val="90000"/>
                  </a:schemeClr>
                </a:solidFill>
              </a:rPr>
              <a:t>01 Functional Issues</a:t>
            </a:r>
          </a:p>
          <a:p>
            <a:r>
              <a:rPr lang="en-US" sz="1400" dirty="0">
                <a:solidFill>
                  <a:schemeClr val="bg2">
                    <a:lumMod val="90000"/>
                  </a:schemeClr>
                </a:solidFill>
              </a:rPr>
              <a:t>Incorrect business logic or unexpected behavior.</a:t>
            </a:r>
          </a:p>
          <a:p>
            <a:r>
              <a:rPr lang="en-US" sz="1600" b="1" dirty="0">
                <a:solidFill>
                  <a:schemeClr val="bg2">
                    <a:lumMod val="90000"/>
                  </a:schemeClr>
                </a:solidFill>
              </a:rPr>
              <a:t>02 API Issues</a:t>
            </a:r>
          </a:p>
          <a:p>
            <a:r>
              <a:rPr lang="en-US" sz="1400" dirty="0">
                <a:solidFill>
                  <a:schemeClr val="bg2">
                    <a:lumMod val="90000"/>
                  </a:schemeClr>
                </a:solidFill>
              </a:rPr>
              <a:t>Invalid responses or status codes.</a:t>
            </a:r>
          </a:p>
          <a:p>
            <a:r>
              <a:rPr lang="en-US" sz="1600" b="1" dirty="0">
                <a:solidFill>
                  <a:schemeClr val="bg2">
                    <a:lumMod val="90000"/>
                  </a:schemeClr>
                </a:solidFill>
              </a:rPr>
              <a:t>03 Regression Risks</a:t>
            </a:r>
          </a:p>
          <a:p>
            <a:r>
              <a:rPr lang="en-US" sz="1400" dirty="0">
                <a:solidFill>
                  <a:schemeClr val="bg2">
                    <a:lumMod val="90000"/>
                  </a:schemeClr>
                </a:solidFill>
              </a:rPr>
              <a:t>New updates may break existing functionality.</a:t>
            </a:r>
          </a:p>
        </p:txBody>
      </p:sp>
      <p:sp>
        <p:nvSpPr>
          <p:cNvPr id="12" name="Shape 8"/>
          <p:cNvSpPr/>
          <p:nvPr/>
        </p:nvSpPr>
        <p:spPr>
          <a:xfrm>
            <a:off x="5577840" y="640080"/>
            <a:ext cx="3200400" cy="1097280"/>
          </a:xfrm>
          <a:prstGeom prst="roundRect">
            <a:avLst>
              <a:gd name="adj" fmla="val 6667"/>
            </a:avLst>
          </a:prstGeom>
          <a:solidFill>
            <a:srgbClr val="0F1526"/>
          </a:solidFill>
          <a:ln w="12700">
            <a:solidFill>
              <a:srgbClr val="FF5252"/>
            </a:solidFill>
            <a:prstDash val="solid"/>
          </a:ln>
        </p:spPr>
        <p:txBody>
          <a:bodyPr/>
          <a:lstStyle/>
          <a:p>
            <a:endParaRPr lang="en-US"/>
          </a:p>
        </p:txBody>
      </p:sp>
      <p:sp>
        <p:nvSpPr>
          <p:cNvPr id="13" name="Text 9"/>
          <p:cNvSpPr/>
          <p:nvPr/>
        </p:nvSpPr>
        <p:spPr>
          <a:xfrm>
            <a:off x="5669280" y="731520"/>
            <a:ext cx="548640" cy="502920"/>
          </a:xfrm>
          <a:prstGeom prst="rect">
            <a:avLst/>
          </a:prstGeom>
          <a:noFill/>
          <a:ln/>
        </p:spPr>
        <p:txBody>
          <a:bodyPr wrap="square" rtlCol="0" anchor="ctr"/>
          <a:lstStyle/>
          <a:p>
            <a:pPr marL="0" indent="0" algn="ctr">
              <a:buNone/>
            </a:pPr>
            <a:r>
              <a:rPr lang="en-US" sz="2200" b="1" dirty="0">
                <a:solidFill>
                  <a:srgbClr val="FF5252"/>
                </a:solidFill>
                <a:latin typeface="Calibri" pitchFamily="34" charset="0"/>
                <a:ea typeface="Calibri" pitchFamily="34" charset="-122"/>
                <a:cs typeface="Calibri" pitchFamily="34" charset="-120"/>
              </a:rPr>
              <a:t>01</a:t>
            </a:r>
            <a:endParaRPr lang="en-US" sz="2200" dirty="0"/>
          </a:p>
        </p:txBody>
      </p:sp>
      <p:sp>
        <p:nvSpPr>
          <p:cNvPr id="14" name="Text 10"/>
          <p:cNvSpPr/>
          <p:nvPr/>
        </p:nvSpPr>
        <p:spPr>
          <a:xfrm>
            <a:off x="6263640" y="777240"/>
            <a:ext cx="2377440" cy="365760"/>
          </a:xfrm>
          <a:prstGeom prst="rect">
            <a:avLst/>
          </a:prstGeom>
          <a:noFill/>
          <a:ln/>
        </p:spPr>
        <p:txBody>
          <a:bodyPr wrap="square" rtlCol="0" anchor="ctr"/>
          <a:lstStyle/>
          <a:p>
            <a:pPr marL="0" indent="0">
              <a:buNone/>
            </a:pPr>
            <a:r>
              <a:rPr lang="en-US" sz="1500" b="1" dirty="0">
                <a:solidFill>
                  <a:srgbClr val="F1F5FB"/>
                </a:solidFill>
                <a:latin typeface="Calibri" pitchFamily="34" charset="0"/>
                <a:ea typeface="Calibri" pitchFamily="34" charset="-122"/>
                <a:cs typeface="Calibri" pitchFamily="34" charset="-120"/>
              </a:rPr>
              <a:t>Efficiency</a:t>
            </a:r>
            <a:endParaRPr lang="en-US" sz="1500" dirty="0"/>
          </a:p>
        </p:txBody>
      </p:sp>
      <p:sp>
        <p:nvSpPr>
          <p:cNvPr id="15" name="Text 11"/>
          <p:cNvSpPr/>
          <p:nvPr/>
        </p:nvSpPr>
        <p:spPr>
          <a:xfrm>
            <a:off x="5669280" y="1165860"/>
            <a:ext cx="2971800" cy="544068"/>
          </a:xfrm>
          <a:prstGeom prst="rect">
            <a:avLst/>
          </a:prstGeom>
          <a:noFill/>
          <a:ln/>
        </p:spPr>
        <p:txBody>
          <a:bodyPr wrap="square" rtlCol="0" anchor="ctr"/>
          <a:lstStyle/>
          <a:p>
            <a:pPr marL="0" indent="0">
              <a:buNone/>
            </a:pPr>
            <a:r>
              <a:rPr lang="en-US" sz="1400" dirty="0">
                <a:solidFill>
                  <a:srgbClr val="8892A4"/>
                </a:solidFill>
                <a:latin typeface="Calibri" pitchFamily="34" charset="0"/>
                <a:ea typeface="Calibri" pitchFamily="34" charset="-122"/>
                <a:cs typeface="Calibri" pitchFamily="34" charset="-120"/>
              </a:rPr>
              <a:t>Manual testing requires significant time and effort, especially for large applications and frequent releases.</a:t>
            </a:r>
            <a:endParaRPr lang="en-US" sz="1400" dirty="0"/>
          </a:p>
        </p:txBody>
      </p:sp>
      <p:sp>
        <p:nvSpPr>
          <p:cNvPr id="16" name="Shape 12"/>
          <p:cNvSpPr/>
          <p:nvPr/>
        </p:nvSpPr>
        <p:spPr>
          <a:xfrm>
            <a:off x="5577840" y="2011680"/>
            <a:ext cx="3200400" cy="1097280"/>
          </a:xfrm>
          <a:prstGeom prst="roundRect">
            <a:avLst>
              <a:gd name="adj" fmla="val 6667"/>
            </a:avLst>
          </a:prstGeom>
          <a:solidFill>
            <a:srgbClr val="0F1526"/>
          </a:solidFill>
          <a:ln w="12700">
            <a:solidFill>
              <a:srgbClr val="FFB300"/>
            </a:solidFill>
            <a:prstDash val="solid"/>
          </a:ln>
        </p:spPr>
        <p:txBody>
          <a:bodyPr/>
          <a:lstStyle/>
          <a:p>
            <a:endParaRPr lang="en-US"/>
          </a:p>
        </p:txBody>
      </p:sp>
      <p:sp>
        <p:nvSpPr>
          <p:cNvPr id="17" name="Text 13"/>
          <p:cNvSpPr/>
          <p:nvPr/>
        </p:nvSpPr>
        <p:spPr>
          <a:xfrm>
            <a:off x="5669280" y="2103120"/>
            <a:ext cx="548640" cy="502920"/>
          </a:xfrm>
          <a:prstGeom prst="rect">
            <a:avLst/>
          </a:prstGeom>
          <a:noFill/>
          <a:ln/>
        </p:spPr>
        <p:txBody>
          <a:bodyPr wrap="square" rtlCol="0" anchor="ctr"/>
          <a:lstStyle/>
          <a:p>
            <a:pPr marL="0" indent="0" algn="ctr">
              <a:buNone/>
            </a:pPr>
            <a:r>
              <a:rPr lang="en-US" sz="2200" b="1" dirty="0">
                <a:solidFill>
                  <a:srgbClr val="FFB300"/>
                </a:solidFill>
                <a:latin typeface="Calibri" pitchFamily="34" charset="0"/>
                <a:ea typeface="Calibri" pitchFamily="34" charset="-122"/>
                <a:cs typeface="Calibri" pitchFamily="34" charset="-120"/>
              </a:rPr>
              <a:t>02</a:t>
            </a:r>
            <a:endParaRPr lang="en-US" sz="2200" dirty="0"/>
          </a:p>
        </p:txBody>
      </p:sp>
      <p:sp>
        <p:nvSpPr>
          <p:cNvPr id="18" name="Text 14"/>
          <p:cNvSpPr/>
          <p:nvPr/>
        </p:nvSpPr>
        <p:spPr>
          <a:xfrm>
            <a:off x="6263640" y="2148840"/>
            <a:ext cx="2377440" cy="365760"/>
          </a:xfrm>
          <a:prstGeom prst="rect">
            <a:avLst/>
          </a:prstGeom>
          <a:noFill/>
          <a:ln/>
        </p:spPr>
        <p:txBody>
          <a:bodyPr wrap="square" rtlCol="0" anchor="ctr"/>
          <a:lstStyle/>
          <a:p>
            <a:pPr marL="0" indent="0">
              <a:buNone/>
            </a:pPr>
            <a:r>
              <a:rPr lang="en-US" sz="1500" b="1" dirty="0">
                <a:solidFill>
                  <a:srgbClr val="F1F5FB"/>
                </a:solidFill>
                <a:latin typeface="Calibri" pitchFamily="34" charset="0"/>
                <a:ea typeface="Calibri" pitchFamily="34" charset="-122"/>
                <a:cs typeface="Calibri" pitchFamily="34" charset="-120"/>
              </a:rPr>
              <a:t>Quality</a:t>
            </a:r>
            <a:endParaRPr lang="en-US" sz="1500" dirty="0"/>
          </a:p>
        </p:txBody>
      </p:sp>
      <p:sp>
        <p:nvSpPr>
          <p:cNvPr id="19" name="Text 15"/>
          <p:cNvSpPr/>
          <p:nvPr/>
        </p:nvSpPr>
        <p:spPr>
          <a:xfrm>
            <a:off x="5669280" y="2542032"/>
            <a:ext cx="2971800" cy="502920"/>
          </a:xfrm>
          <a:prstGeom prst="rect">
            <a:avLst/>
          </a:prstGeom>
          <a:noFill/>
          <a:ln/>
        </p:spPr>
        <p:txBody>
          <a:bodyPr wrap="square" rtlCol="0" anchor="ctr"/>
          <a:lstStyle/>
          <a:p>
            <a:pPr marL="0" indent="0">
              <a:buNone/>
            </a:pPr>
            <a:r>
              <a:rPr lang="en-US" sz="1400" dirty="0">
                <a:solidFill>
                  <a:srgbClr val="8892A4"/>
                </a:solidFill>
                <a:latin typeface="Calibri" pitchFamily="34" charset="0"/>
                <a:ea typeface="Calibri" pitchFamily="34" charset="-122"/>
                <a:cs typeface="Calibri" pitchFamily="34" charset="-120"/>
              </a:rPr>
              <a:t>Software defects and API failures negatively impact product quality and user satisfaction.</a:t>
            </a:r>
            <a:endParaRPr lang="en-US" sz="1400" dirty="0"/>
          </a:p>
        </p:txBody>
      </p:sp>
      <p:sp>
        <p:nvSpPr>
          <p:cNvPr id="20" name="Shape 16"/>
          <p:cNvSpPr/>
          <p:nvPr/>
        </p:nvSpPr>
        <p:spPr>
          <a:xfrm>
            <a:off x="5577840" y="3383280"/>
            <a:ext cx="3200400" cy="1097280"/>
          </a:xfrm>
          <a:prstGeom prst="roundRect">
            <a:avLst>
              <a:gd name="adj" fmla="val 6667"/>
            </a:avLst>
          </a:prstGeom>
          <a:solidFill>
            <a:srgbClr val="0F1526"/>
          </a:solidFill>
          <a:ln w="12700">
            <a:solidFill>
              <a:srgbClr val="6C63FF"/>
            </a:solidFill>
            <a:prstDash val="solid"/>
          </a:ln>
        </p:spPr>
        <p:txBody>
          <a:bodyPr/>
          <a:lstStyle/>
          <a:p>
            <a:endParaRPr lang="en-US"/>
          </a:p>
        </p:txBody>
      </p:sp>
      <p:sp>
        <p:nvSpPr>
          <p:cNvPr id="21" name="Text 17"/>
          <p:cNvSpPr/>
          <p:nvPr/>
        </p:nvSpPr>
        <p:spPr>
          <a:xfrm>
            <a:off x="5669280" y="3474720"/>
            <a:ext cx="548640" cy="502920"/>
          </a:xfrm>
          <a:prstGeom prst="rect">
            <a:avLst/>
          </a:prstGeom>
          <a:noFill/>
          <a:ln/>
        </p:spPr>
        <p:txBody>
          <a:bodyPr wrap="square" rtlCol="0" anchor="ctr"/>
          <a:lstStyle/>
          <a:p>
            <a:pPr marL="0" indent="0" algn="ctr">
              <a:buNone/>
            </a:pPr>
            <a:r>
              <a:rPr lang="en-US" sz="2200" b="1" dirty="0">
                <a:solidFill>
                  <a:srgbClr val="6C63FF"/>
                </a:solidFill>
                <a:latin typeface="Calibri" pitchFamily="34" charset="0"/>
                <a:ea typeface="Calibri" pitchFamily="34" charset="-122"/>
                <a:cs typeface="Calibri" pitchFamily="34" charset="-120"/>
              </a:rPr>
              <a:t>03</a:t>
            </a:r>
            <a:endParaRPr lang="en-US" sz="2200" dirty="0"/>
          </a:p>
        </p:txBody>
      </p:sp>
      <p:sp>
        <p:nvSpPr>
          <p:cNvPr id="22" name="Text 18"/>
          <p:cNvSpPr/>
          <p:nvPr/>
        </p:nvSpPr>
        <p:spPr>
          <a:xfrm>
            <a:off x="6263640" y="3520440"/>
            <a:ext cx="2377440" cy="365760"/>
          </a:xfrm>
          <a:prstGeom prst="rect">
            <a:avLst/>
          </a:prstGeom>
          <a:noFill/>
          <a:ln/>
        </p:spPr>
        <p:txBody>
          <a:bodyPr wrap="square" rtlCol="0" anchor="ctr"/>
          <a:lstStyle/>
          <a:p>
            <a:pPr marL="0" indent="0">
              <a:buNone/>
            </a:pPr>
            <a:r>
              <a:rPr lang="en-US" sz="1500" b="1" dirty="0">
                <a:solidFill>
                  <a:srgbClr val="F1F5FB"/>
                </a:solidFill>
                <a:latin typeface="Calibri" pitchFamily="34" charset="0"/>
                <a:ea typeface="Calibri" pitchFamily="34" charset="-122"/>
                <a:cs typeface="Calibri" pitchFamily="34" charset="-120"/>
              </a:rPr>
              <a:t>Time</a:t>
            </a:r>
            <a:endParaRPr lang="en-US" sz="1500" dirty="0"/>
          </a:p>
        </p:txBody>
      </p:sp>
      <p:sp>
        <p:nvSpPr>
          <p:cNvPr id="23" name="Text 19"/>
          <p:cNvSpPr/>
          <p:nvPr/>
        </p:nvSpPr>
        <p:spPr>
          <a:xfrm>
            <a:off x="5577840" y="3913632"/>
            <a:ext cx="3063240" cy="498348"/>
          </a:xfrm>
          <a:prstGeom prst="rect">
            <a:avLst/>
          </a:prstGeom>
          <a:noFill/>
          <a:ln/>
        </p:spPr>
        <p:txBody>
          <a:bodyPr wrap="square" rtlCol="0" anchor="ctr"/>
          <a:lstStyle/>
          <a:p>
            <a:pPr marL="0" indent="0">
              <a:buNone/>
            </a:pPr>
            <a:r>
              <a:rPr lang="en-US" sz="1000" dirty="0">
                <a:solidFill>
                  <a:srgbClr val="8892A4"/>
                </a:solidFill>
                <a:latin typeface="Calibri" pitchFamily="34" charset="0"/>
                <a:ea typeface="Calibri" pitchFamily="34" charset="-122"/>
                <a:cs typeface="Calibri" pitchFamily="34" charset="-120"/>
              </a:rPr>
              <a:t>Re-testing the entire application after each update delays delivery and increases testing time.</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0" y="73152"/>
            <a:ext cx="9144000" cy="1024128"/>
          </a:xfrm>
          <a:prstGeom prst="rect">
            <a:avLst/>
          </a:prstGeom>
          <a:solidFill>
            <a:srgbClr val="141B2D"/>
          </a:solidFill>
          <a:ln w="12700">
            <a:solidFill>
              <a:srgbClr val="1E2D4A"/>
            </a:solidFill>
            <a:prstDash val="solid"/>
          </a:ln>
        </p:spPr>
        <p:txBody>
          <a:bodyPr/>
          <a:lstStyle/>
          <a:p>
            <a:endParaRPr lang="en-US"/>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00E676"/>
          </a:solidFill>
          <a:ln w="12700">
            <a:solidFill>
              <a:srgbClr val="00E676"/>
            </a:solidFill>
            <a:prstDash val="solid"/>
          </a:ln>
        </p:spPr>
        <p:txBody>
          <a:bodyPr/>
          <a:lstStyle/>
          <a:p>
            <a:endParaRPr lang="en-US"/>
          </a:p>
        </p:txBody>
      </p:sp>
      <p:sp>
        <p:nvSpPr>
          <p:cNvPr id="6" name="Shape 2"/>
          <p:cNvSpPr/>
          <p:nvPr/>
        </p:nvSpPr>
        <p:spPr>
          <a:xfrm>
            <a:off x="768096" y="222069"/>
            <a:ext cx="828475" cy="320040"/>
          </a:xfrm>
          <a:prstGeom prst="roundRect">
            <a:avLst>
              <a:gd name="adj" fmla="val 13889"/>
            </a:avLst>
          </a:prstGeom>
          <a:solidFill>
            <a:srgbClr val="00E676">
              <a:alpha val="20000"/>
            </a:srgbClr>
          </a:solidFill>
          <a:ln w="12700">
            <a:solidFill>
              <a:srgbClr val="00E676"/>
            </a:solidFill>
            <a:prstDash val="solid"/>
          </a:ln>
        </p:spPr>
        <p:txBody>
          <a:bodyPr/>
          <a:lstStyle/>
          <a:p>
            <a:endParaRPr lang="en-US"/>
          </a:p>
        </p:txBody>
      </p:sp>
      <p:sp>
        <p:nvSpPr>
          <p:cNvPr id="7" name="Text 3"/>
          <p:cNvSpPr/>
          <p:nvPr/>
        </p:nvSpPr>
        <p:spPr>
          <a:xfrm>
            <a:off x="365760" y="201168"/>
            <a:ext cx="1645920" cy="329184"/>
          </a:xfrm>
          <a:prstGeom prst="rect">
            <a:avLst/>
          </a:prstGeom>
          <a:noFill/>
          <a:ln/>
        </p:spPr>
        <p:txBody>
          <a:bodyPr wrap="square" rtlCol="0" anchor="ctr"/>
          <a:lstStyle/>
          <a:p>
            <a:pPr marL="0" indent="0" algn="ctr">
              <a:buNone/>
            </a:pPr>
            <a:r>
              <a:rPr lang="en-US" sz="1000" b="1" kern="0" spc="200" dirty="0">
                <a:solidFill>
                  <a:srgbClr val="00E676"/>
                </a:solidFill>
                <a:latin typeface="Calibri" pitchFamily="34" charset="0"/>
                <a:ea typeface="Calibri" pitchFamily="34" charset="-122"/>
                <a:cs typeface="Calibri" pitchFamily="34" charset="-120"/>
              </a:rPr>
              <a:t>SOLUTION</a:t>
            </a:r>
            <a:endParaRPr lang="en-US" sz="1000" dirty="0"/>
          </a:p>
        </p:txBody>
      </p:sp>
      <p:sp>
        <p:nvSpPr>
          <p:cNvPr id="8" name="Text 4"/>
          <p:cNvSpPr/>
          <p:nvPr/>
        </p:nvSpPr>
        <p:spPr>
          <a:xfrm>
            <a:off x="2286000" y="182880"/>
            <a:ext cx="6400800" cy="64008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Proposed Solution</a:t>
            </a:r>
            <a:endParaRPr lang="en-US" sz="2600" dirty="0"/>
          </a:p>
        </p:txBody>
      </p:sp>
      <p:sp>
        <p:nvSpPr>
          <p:cNvPr id="9" name="Text 5"/>
          <p:cNvSpPr/>
          <p:nvPr/>
        </p:nvSpPr>
        <p:spPr>
          <a:xfrm>
            <a:off x="457200" y="713232"/>
            <a:ext cx="822960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Our team implemented a complete QA process for the Binance platform, starting with requirement analysis and test case design, followed by API testing using Postman and automation testing using Selenium to ensure software quality and reliability.</a:t>
            </a:r>
            <a:endParaRPr lang="en-US" sz="1100" dirty="0"/>
          </a:p>
        </p:txBody>
      </p:sp>
      <p:sp>
        <p:nvSpPr>
          <p:cNvPr id="10" name="Shape 6"/>
          <p:cNvSpPr/>
          <p:nvPr/>
        </p:nvSpPr>
        <p:spPr>
          <a:xfrm>
            <a:off x="365760" y="1280160"/>
            <a:ext cx="4114800" cy="1554480"/>
          </a:xfrm>
          <a:prstGeom prst="roundRect">
            <a:avLst>
              <a:gd name="adj" fmla="val 5882"/>
            </a:avLst>
          </a:prstGeom>
          <a:solidFill>
            <a:srgbClr val="1A2340"/>
          </a:solidFill>
          <a:ln w="12700">
            <a:solidFill>
              <a:srgbClr val="6C63FF"/>
            </a:solidFill>
            <a:prstDash val="solid"/>
          </a:ln>
        </p:spPr>
        <p:txBody>
          <a:bodyPr/>
          <a:lstStyle/>
          <a:p>
            <a:endParaRPr lang="en-US"/>
          </a:p>
        </p:txBody>
      </p:sp>
      <p:sp>
        <p:nvSpPr>
          <p:cNvPr id="11" name="Shape 7"/>
          <p:cNvSpPr/>
          <p:nvPr/>
        </p:nvSpPr>
        <p:spPr>
          <a:xfrm>
            <a:off x="365760" y="1280160"/>
            <a:ext cx="4114800" cy="365760"/>
          </a:xfrm>
          <a:prstGeom prst="roundRect">
            <a:avLst>
              <a:gd name="adj" fmla="val 25000"/>
            </a:avLst>
          </a:prstGeom>
          <a:solidFill>
            <a:srgbClr val="6C63FF">
              <a:alpha val="25000"/>
            </a:srgbClr>
          </a:solidFill>
          <a:ln w="12700">
            <a:solidFill>
              <a:srgbClr val="6C63FF"/>
            </a:solidFill>
            <a:prstDash val="solid"/>
          </a:ln>
        </p:spPr>
        <p:txBody>
          <a:bodyPr/>
          <a:lstStyle/>
          <a:p>
            <a:endParaRPr lang="en-US"/>
          </a:p>
        </p:txBody>
      </p:sp>
      <p:sp>
        <p:nvSpPr>
          <p:cNvPr id="12" name="Text 8"/>
          <p:cNvSpPr/>
          <p:nvPr/>
        </p:nvSpPr>
        <p:spPr>
          <a:xfrm>
            <a:off x="548640" y="1325880"/>
            <a:ext cx="3749040" cy="347472"/>
          </a:xfrm>
          <a:prstGeom prst="rect">
            <a:avLst/>
          </a:prstGeom>
          <a:noFill/>
          <a:ln/>
        </p:spPr>
        <p:txBody>
          <a:bodyPr wrap="square" rtlCol="0" anchor="ctr"/>
          <a:lstStyle/>
          <a:p>
            <a:pPr marL="0" indent="0">
              <a:buNone/>
            </a:pPr>
            <a:r>
              <a:rPr lang="en-US" sz="1400" b="1" dirty="0">
                <a:solidFill>
                  <a:srgbClr val="6C63FF"/>
                </a:solidFill>
                <a:latin typeface="Calibri" pitchFamily="34" charset="0"/>
                <a:ea typeface="Calibri" pitchFamily="34" charset="-122"/>
                <a:cs typeface="Calibri" pitchFamily="34" charset="-120"/>
              </a:rPr>
              <a:t>Proposed Solution</a:t>
            </a:r>
            <a:endParaRPr lang="en-US" sz="1400" dirty="0"/>
          </a:p>
        </p:txBody>
      </p:sp>
      <p:sp>
        <p:nvSpPr>
          <p:cNvPr id="13" name="Text 9"/>
          <p:cNvSpPr/>
          <p:nvPr/>
        </p:nvSpPr>
        <p:spPr>
          <a:xfrm>
            <a:off x="365760" y="1627632"/>
            <a:ext cx="3931920" cy="1207008"/>
          </a:xfrm>
          <a:prstGeom prst="rect">
            <a:avLst/>
          </a:prstGeom>
          <a:noFill/>
          <a:ln/>
        </p:spPr>
        <p:txBody>
          <a:bodyPr wrap="square" rtlCol="0" anchor="ctr"/>
          <a:lstStyle/>
          <a:p>
            <a:pPr marL="0" indent="0">
              <a:buNone/>
            </a:pPr>
            <a:r>
              <a:rPr lang="en-US" sz="1200" dirty="0">
                <a:solidFill>
                  <a:srgbClr val="8892A4"/>
                </a:solidFill>
                <a:latin typeface="Calibri" pitchFamily="34" charset="0"/>
                <a:ea typeface="Calibri" pitchFamily="34" charset="-122"/>
                <a:cs typeface="Calibri" pitchFamily="34" charset="-120"/>
              </a:rPr>
              <a:t>Our team implemented a complete QA process including:</a:t>
            </a:r>
            <a:endParaRPr lang="ar-EG" sz="1200" dirty="0">
              <a:solidFill>
                <a:srgbClr val="8892A4"/>
              </a:solidFill>
              <a:latin typeface="Calibri" pitchFamily="34" charset="0"/>
              <a:ea typeface="Calibri" pitchFamily="34" charset="-122"/>
              <a:cs typeface="Calibri" pitchFamily="34" charset="-120"/>
            </a:endParaRPr>
          </a:p>
          <a:p>
            <a:pPr marL="0" indent="0">
              <a:buNone/>
            </a:pPr>
            <a:r>
              <a:rPr lang="en-US" sz="1200" dirty="0">
                <a:solidFill>
                  <a:srgbClr val="8892A4"/>
                </a:solidFill>
                <a:latin typeface="Calibri" pitchFamily="34" charset="0"/>
                <a:ea typeface="Calibri" pitchFamily="34" charset="-122"/>
                <a:cs typeface="Calibri" pitchFamily="34" charset="-120"/>
              </a:rPr>
              <a:t>Requirement Analysis</a:t>
            </a:r>
            <a:endParaRPr lang="ar-EG" sz="1200" dirty="0">
              <a:solidFill>
                <a:srgbClr val="8892A4"/>
              </a:solidFill>
              <a:latin typeface="Calibri" pitchFamily="34" charset="0"/>
              <a:ea typeface="Calibri" pitchFamily="34" charset="-122"/>
              <a:cs typeface="Calibri" pitchFamily="34" charset="-120"/>
            </a:endParaRPr>
          </a:p>
          <a:p>
            <a:pPr marL="0" indent="0">
              <a:buNone/>
            </a:pPr>
            <a:r>
              <a:rPr lang="en-US" sz="1200" dirty="0">
                <a:solidFill>
                  <a:srgbClr val="8892A4"/>
                </a:solidFill>
                <a:latin typeface="Calibri" pitchFamily="34" charset="0"/>
                <a:ea typeface="Calibri" pitchFamily="34" charset="-122"/>
                <a:cs typeface="Calibri" pitchFamily="34" charset="-120"/>
              </a:rPr>
              <a:t>Test Scenario Creation</a:t>
            </a:r>
            <a:endParaRPr lang="ar-EG" sz="1200" dirty="0">
              <a:solidFill>
                <a:srgbClr val="8892A4"/>
              </a:solidFill>
              <a:latin typeface="Calibri" pitchFamily="34" charset="0"/>
              <a:ea typeface="Calibri" pitchFamily="34" charset="-122"/>
              <a:cs typeface="Calibri" pitchFamily="34" charset="-120"/>
            </a:endParaRPr>
          </a:p>
          <a:p>
            <a:pPr marL="0" indent="0">
              <a:buNone/>
            </a:pPr>
            <a:r>
              <a:rPr lang="en-US" sz="1200" dirty="0">
                <a:solidFill>
                  <a:srgbClr val="8892A4"/>
                </a:solidFill>
                <a:latin typeface="Calibri" pitchFamily="34" charset="0"/>
                <a:ea typeface="Calibri" pitchFamily="34" charset="-122"/>
                <a:cs typeface="Calibri" pitchFamily="34" charset="-120"/>
              </a:rPr>
              <a:t>Test Case Design</a:t>
            </a:r>
            <a:endParaRPr lang="ar-EG" sz="1200" dirty="0">
              <a:solidFill>
                <a:srgbClr val="8892A4"/>
              </a:solidFill>
              <a:latin typeface="Calibri" pitchFamily="34" charset="0"/>
              <a:ea typeface="Calibri" pitchFamily="34" charset="-122"/>
              <a:cs typeface="Calibri" pitchFamily="34" charset="-120"/>
            </a:endParaRPr>
          </a:p>
          <a:p>
            <a:pPr marL="0" indent="0">
              <a:buNone/>
            </a:pPr>
            <a:r>
              <a:rPr lang="en-US" sz="1200" dirty="0">
                <a:solidFill>
                  <a:srgbClr val="8892A4"/>
                </a:solidFill>
                <a:latin typeface="Calibri" pitchFamily="34" charset="0"/>
                <a:ea typeface="Calibri" pitchFamily="34" charset="-122"/>
                <a:cs typeface="Calibri" pitchFamily="34" charset="-120"/>
              </a:rPr>
              <a:t>API Testing using Postman</a:t>
            </a:r>
            <a:endParaRPr lang="ar-EG" sz="1200" dirty="0">
              <a:solidFill>
                <a:srgbClr val="8892A4"/>
              </a:solidFill>
              <a:latin typeface="Calibri" pitchFamily="34" charset="0"/>
              <a:ea typeface="Calibri" pitchFamily="34" charset="-122"/>
              <a:cs typeface="Calibri" pitchFamily="34" charset="-120"/>
            </a:endParaRPr>
          </a:p>
          <a:p>
            <a:pPr marL="0" indent="0">
              <a:buNone/>
            </a:pPr>
            <a:r>
              <a:rPr lang="en-US" sz="1200" dirty="0">
                <a:solidFill>
                  <a:srgbClr val="8892A4"/>
                </a:solidFill>
                <a:latin typeface="Calibri" pitchFamily="34" charset="0"/>
                <a:ea typeface="Calibri" pitchFamily="34" charset="-122"/>
                <a:cs typeface="Calibri" pitchFamily="34" charset="-120"/>
              </a:rPr>
              <a:t>Automation Testing using Selenium</a:t>
            </a:r>
            <a:endParaRPr lang="en-US" sz="1200" dirty="0"/>
          </a:p>
        </p:txBody>
      </p:sp>
      <p:sp>
        <p:nvSpPr>
          <p:cNvPr id="14" name="Shape 10"/>
          <p:cNvSpPr/>
          <p:nvPr/>
        </p:nvSpPr>
        <p:spPr>
          <a:xfrm>
            <a:off x="4754880" y="1280160"/>
            <a:ext cx="4114800" cy="1554480"/>
          </a:xfrm>
          <a:prstGeom prst="roundRect">
            <a:avLst>
              <a:gd name="adj" fmla="val 5882"/>
            </a:avLst>
          </a:prstGeom>
          <a:solidFill>
            <a:srgbClr val="1A2340"/>
          </a:solidFill>
          <a:ln w="12700">
            <a:solidFill>
              <a:srgbClr val="00E676"/>
            </a:solidFill>
            <a:prstDash val="solid"/>
          </a:ln>
        </p:spPr>
        <p:txBody>
          <a:bodyPr/>
          <a:lstStyle/>
          <a:p>
            <a:endParaRPr lang="en-US"/>
          </a:p>
        </p:txBody>
      </p:sp>
      <p:sp>
        <p:nvSpPr>
          <p:cNvPr id="15" name="Shape 11"/>
          <p:cNvSpPr/>
          <p:nvPr/>
        </p:nvSpPr>
        <p:spPr>
          <a:xfrm>
            <a:off x="4754880" y="1280160"/>
            <a:ext cx="4114800" cy="365760"/>
          </a:xfrm>
          <a:prstGeom prst="roundRect">
            <a:avLst>
              <a:gd name="adj" fmla="val 25000"/>
            </a:avLst>
          </a:prstGeom>
          <a:solidFill>
            <a:srgbClr val="00E676">
              <a:alpha val="25000"/>
            </a:srgbClr>
          </a:solidFill>
          <a:ln w="12700">
            <a:solidFill>
              <a:srgbClr val="00E676"/>
            </a:solidFill>
            <a:prstDash val="solid"/>
          </a:ln>
        </p:spPr>
        <p:txBody>
          <a:bodyPr/>
          <a:lstStyle/>
          <a:p>
            <a:endParaRPr lang="en-US"/>
          </a:p>
        </p:txBody>
      </p:sp>
      <p:sp>
        <p:nvSpPr>
          <p:cNvPr id="16" name="Text 12"/>
          <p:cNvSpPr/>
          <p:nvPr/>
        </p:nvSpPr>
        <p:spPr>
          <a:xfrm>
            <a:off x="4937760" y="1325880"/>
            <a:ext cx="3749040" cy="347472"/>
          </a:xfrm>
          <a:prstGeom prst="rect">
            <a:avLst/>
          </a:prstGeom>
          <a:noFill/>
          <a:ln/>
        </p:spPr>
        <p:txBody>
          <a:bodyPr wrap="square" rtlCol="0" anchor="ctr"/>
          <a:lstStyle/>
          <a:p>
            <a:pPr marL="0" indent="0">
              <a:buNone/>
            </a:pPr>
            <a:r>
              <a:rPr lang="en-US" sz="1400" b="1" dirty="0">
                <a:solidFill>
                  <a:srgbClr val="00E676"/>
                </a:solidFill>
                <a:latin typeface="Calibri" pitchFamily="34" charset="0"/>
                <a:ea typeface="Calibri" pitchFamily="34" charset="-122"/>
                <a:cs typeface="Calibri" pitchFamily="34" charset="-120"/>
              </a:rPr>
              <a:t>Benefits</a:t>
            </a:r>
            <a:endParaRPr lang="en-US" sz="1400" dirty="0"/>
          </a:p>
        </p:txBody>
      </p:sp>
      <p:sp>
        <p:nvSpPr>
          <p:cNvPr id="17" name="Text 13"/>
          <p:cNvSpPr/>
          <p:nvPr/>
        </p:nvSpPr>
        <p:spPr>
          <a:xfrm>
            <a:off x="4754880" y="1719072"/>
            <a:ext cx="3931920" cy="886968"/>
          </a:xfrm>
          <a:prstGeom prst="rect">
            <a:avLst/>
          </a:prstGeom>
          <a:noFill/>
          <a:ln/>
        </p:spPr>
        <p:txBody>
          <a:bodyPr wrap="square" rtlCol="0" anchor="ctr"/>
          <a:lstStyle/>
          <a:p>
            <a:pPr marL="0" indent="0">
              <a:buNone/>
            </a:pPr>
            <a:r>
              <a:rPr lang="en-US" sz="1400" dirty="0">
                <a:solidFill>
                  <a:srgbClr val="8892A4"/>
                </a:solidFill>
                <a:latin typeface="Calibri" pitchFamily="34" charset="0"/>
                <a:ea typeface="Calibri" pitchFamily="34" charset="-122"/>
                <a:cs typeface="Calibri" pitchFamily="34" charset="-120"/>
              </a:rPr>
              <a:t>Early bug detection</a:t>
            </a:r>
            <a:r>
              <a:rPr lang="ar-EG" sz="1400" dirty="0">
                <a:solidFill>
                  <a:srgbClr val="8892A4"/>
                </a:solidFill>
                <a:latin typeface="Calibri" pitchFamily="34" charset="0"/>
                <a:ea typeface="Calibri" pitchFamily="34" charset="-122"/>
                <a:cs typeface="Calibri" pitchFamily="34" charset="-120"/>
              </a:rPr>
              <a:t>.</a:t>
            </a:r>
          </a:p>
          <a:p>
            <a:pPr marL="0" indent="0">
              <a:buNone/>
            </a:pPr>
            <a:r>
              <a:rPr lang="en-US" sz="1400" dirty="0">
                <a:solidFill>
                  <a:srgbClr val="8892A4"/>
                </a:solidFill>
                <a:latin typeface="Calibri" pitchFamily="34" charset="0"/>
                <a:ea typeface="Calibri" pitchFamily="34" charset="-122"/>
                <a:cs typeface="Calibri" pitchFamily="34" charset="-120"/>
              </a:rPr>
              <a:t>Improved software quality</a:t>
            </a:r>
            <a:r>
              <a:rPr lang="ar-EG" sz="1400" dirty="0">
                <a:solidFill>
                  <a:srgbClr val="8892A4"/>
                </a:solidFill>
                <a:latin typeface="Calibri" pitchFamily="34" charset="0"/>
                <a:ea typeface="Calibri" pitchFamily="34" charset="-122"/>
                <a:cs typeface="Calibri" pitchFamily="34" charset="-120"/>
              </a:rPr>
              <a:t>.</a:t>
            </a:r>
          </a:p>
          <a:p>
            <a:pPr marL="0" indent="0">
              <a:buNone/>
            </a:pPr>
            <a:r>
              <a:rPr lang="en-US" sz="1400" dirty="0">
                <a:solidFill>
                  <a:srgbClr val="8892A4"/>
                </a:solidFill>
                <a:latin typeface="Calibri" pitchFamily="34" charset="0"/>
                <a:ea typeface="Calibri" pitchFamily="34" charset="-122"/>
                <a:cs typeface="Calibri" pitchFamily="34" charset="-120"/>
              </a:rPr>
              <a:t>Reduced regression risks.</a:t>
            </a:r>
            <a:endParaRPr lang="en-US" sz="1400" dirty="0"/>
          </a:p>
        </p:txBody>
      </p:sp>
      <p:sp>
        <p:nvSpPr>
          <p:cNvPr id="18" name="Shape 14"/>
          <p:cNvSpPr/>
          <p:nvPr/>
        </p:nvSpPr>
        <p:spPr>
          <a:xfrm>
            <a:off x="365760" y="3017520"/>
            <a:ext cx="4114800" cy="1554480"/>
          </a:xfrm>
          <a:prstGeom prst="roundRect">
            <a:avLst>
              <a:gd name="adj" fmla="val 5882"/>
            </a:avLst>
          </a:prstGeom>
          <a:solidFill>
            <a:srgbClr val="1A2340"/>
          </a:solidFill>
          <a:ln w="12700">
            <a:solidFill>
              <a:srgbClr val="4FC3F7"/>
            </a:solidFill>
            <a:prstDash val="solid"/>
          </a:ln>
        </p:spPr>
        <p:txBody>
          <a:bodyPr/>
          <a:lstStyle/>
          <a:p>
            <a:endParaRPr lang="en-US"/>
          </a:p>
        </p:txBody>
      </p:sp>
      <p:sp>
        <p:nvSpPr>
          <p:cNvPr id="19" name="Shape 15"/>
          <p:cNvSpPr/>
          <p:nvPr/>
        </p:nvSpPr>
        <p:spPr>
          <a:xfrm>
            <a:off x="365760" y="3017520"/>
            <a:ext cx="4114800" cy="365760"/>
          </a:xfrm>
          <a:prstGeom prst="roundRect">
            <a:avLst>
              <a:gd name="adj" fmla="val 25000"/>
            </a:avLst>
          </a:prstGeom>
          <a:solidFill>
            <a:srgbClr val="4FC3F7">
              <a:alpha val="25000"/>
            </a:srgbClr>
          </a:solidFill>
          <a:ln w="12700">
            <a:solidFill>
              <a:srgbClr val="4FC3F7"/>
            </a:solidFill>
            <a:prstDash val="solid"/>
          </a:ln>
        </p:spPr>
        <p:txBody>
          <a:bodyPr/>
          <a:lstStyle/>
          <a:p>
            <a:endParaRPr lang="en-US"/>
          </a:p>
        </p:txBody>
      </p:sp>
      <p:sp>
        <p:nvSpPr>
          <p:cNvPr id="20" name="Text 16"/>
          <p:cNvSpPr/>
          <p:nvPr/>
        </p:nvSpPr>
        <p:spPr>
          <a:xfrm>
            <a:off x="548640" y="3063240"/>
            <a:ext cx="3749040" cy="347472"/>
          </a:xfrm>
          <a:prstGeom prst="rect">
            <a:avLst/>
          </a:prstGeom>
          <a:noFill/>
          <a:ln/>
        </p:spPr>
        <p:txBody>
          <a:bodyPr wrap="square" rtlCol="0" anchor="ctr"/>
          <a:lstStyle/>
          <a:p>
            <a:pPr marL="0" indent="0">
              <a:buNone/>
            </a:pPr>
            <a:r>
              <a:rPr lang="en-US" sz="1400" b="1" dirty="0">
                <a:solidFill>
                  <a:srgbClr val="4FC3F7"/>
                </a:solidFill>
                <a:latin typeface="Calibri" pitchFamily="34" charset="0"/>
                <a:ea typeface="Calibri" pitchFamily="34" charset="-122"/>
                <a:cs typeface="Calibri" pitchFamily="34" charset="-120"/>
              </a:rPr>
              <a:t>Tools Used</a:t>
            </a:r>
            <a:endParaRPr lang="en-US" sz="1400" dirty="0"/>
          </a:p>
        </p:txBody>
      </p:sp>
      <p:sp>
        <p:nvSpPr>
          <p:cNvPr id="21" name="Text 17"/>
          <p:cNvSpPr/>
          <p:nvPr/>
        </p:nvSpPr>
        <p:spPr>
          <a:xfrm>
            <a:off x="365760" y="3383280"/>
            <a:ext cx="3886200" cy="1170432"/>
          </a:xfrm>
          <a:prstGeom prst="rect">
            <a:avLst/>
          </a:prstGeom>
          <a:noFill/>
          <a:ln/>
        </p:spPr>
        <p:txBody>
          <a:bodyPr wrap="square" rtlCol="0" anchor="ctr"/>
          <a:lstStyle/>
          <a:p>
            <a:pPr marL="0" indent="0">
              <a:buNone/>
            </a:pPr>
            <a:r>
              <a:rPr lang="en-US" sz="1400" dirty="0">
                <a:solidFill>
                  <a:srgbClr val="8892A4"/>
                </a:solidFill>
                <a:latin typeface="Calibri" pitchFamily="34" charset="0"/>
                <a:ea typeface="Calibri" pitchFamily="34" charset="-122"/>
                <a:cs typeface="Calibri" pitchFamily="34" charset="-120"/>
              </a:rPr>
              <a:t>Postman</a:t>
            </a:r>
            <a:endParaRPr lang="ar-EG" sz="1400" dirty="0">
              <a:solidFill>
                <a:srgbClr val="8892A4"/>
              </a:solidFill>
              <a:latin typeface="Calibri" pitchFamily="34" charset="0"/>
              <a:ea typeface="Calibri" pitchFamily="34" charset="-122"/>
              <a:cs typeface="Calibri" pitchFamily="34" charset="-120"/>
            </a:endParaRPr>
          </a:p>
          <a:p>
            <a:pPr marL="0" indent="0">
              <a:buNone/>
            </a:pPr>
            <a:r>
              <a:rPr lang="en-US" sz="1400" dirty="0">
                <a:solidFill>
                  <a:srgbClr val="8892A4"/>
                </a:solidFill>
                <a:latin typeface="Calibri" pitchFamily="34" charset="0"/>
                <a:ea typeface="Calibri" pitchFamily="34" charset="-122"/>
                <a:cs typeface="Calibri" pitchFamily="34" charset="-120"/>
              </a:rPr>
              <a:t>Selenium</a:t>
            </a:r>
            <a:endParaRPr lang="ar-EG" sz="1400" dirty="0">
              <a:solidFill>
                <a:srgbClr val="8892A4"/>
              </a:solidFill>
              <a:latin typeface="Calibri" pitchFamily="34" charset="0"/>
              <a:ea typeface="Calibri" pitchFamily="34" charset="-122"/>
              <a:cs typeface="Calibri" pitchFamily="34" charset="-120"/>
            </a:endParaRPr>
          </a:p>
          <a:p>
            <a:pPr marL="0" indent="0">
              <a:buNone/>
            </a:pPr>
            <a:r>
              <a:rPr lang="en-US" sz="1400" dirty="0">
                <a:solidFill>
                  <a:srgbClr val="8892A4"/>
                </a:solidFill>
                <a:latin typeface="Calibri" pitchFamily="34" charset="0"/>
                <a:ea typeface="Calibri" pitchFamily="34" charset="-122"/>
                <a:cs typeface="Calibri" pitchFamily="34" charset="-120"/>
              </a:rPr>
              <a:t>Excel</a:t>
            </a:r>
            <a:endParaRPr lang="ar-EG" sz="1400" dirty="0">
              <a:solidFill>
                <a:srgbClr val="8892A4"/>
              </a:solidFill>
              <a:latin typeface="Calibri" pitchFamily="34" charset="0"/>
              <a:ea typeface="Calibri" pitchFamily="34" charset="-122"/>
              <a:cs typeface="Calibri" pitchFamily="34" charset="-120"/>
            </a:endParaRPr>
          </a:p>
          <a:p>
            <a:pPr marL="0" indent="0">
              <a:buNone/>
            </a:pPr>
            <a:r>
              <a:rPr lang="en-US" sz="1400" dirty="0">
                <a:solidFill>
                  <a:srgbClr val="8892A4"/>
                </a:solidFill>
                <a:latin typeface="Calibri" pitchFamily="34" charset="0"/>
                <a:ea typeface="Calibri" pitchFamily="34" charset="-122"/>
                <a:cs typeface="Calibri" pitchFamily="34" charset="-120"/>
              </a:rPr>
              <a:t>Chrome Driver</a:t>
            </a:r>
            <a:endParaRPr lang="en-US" sz="1400" dirty="0"/>
          </a:p>
        </p:txBody>
      </p:sp>
      <p:sp>
        <p:nvSpPr>
          <p:cNvPr id="22" name="Shape 18"/>
          <p:cNvSpPr/>
          <p:nvPr/>
        </p:nvSpPr>
        <p:spPr>
          <a:xfrm>
            <a:off x="4754880" y="3017520"/>
            <a:ext cx="4114800" cy="1554480"/>
          </a:xfrm>
          <a:prstGeom prst="roundRect">
            <a:avLst>
              <a:gd name="adj" fmla="val 5882"/>
            </a:avLst>
          </a:prstGeom>
          <a:solidFill>
            <a:srgbClr val="1A2340"/>
          </a:solidFill>
          <a:ln w="12700">
            <a:solidFill>
              <a:srgbClr val="FFB300"/>
            </a:solidFill>
            <a:prstDash val="solid"/>
          </a:ln>
        </p:spPr>
        <p:txBody>
          <a:bodyPr/>
          <a:lstStyle/>
          <a:p>
            <a:endParaRPr lang="en-US"/>
          </a:p>
        </p:txBody>
      </p:sp>
      <p:sp>
        <p:nvSpPr>
          <p:cNvPr id="23" name="Shape 19"/>
          <p:cNvSpPr/>
          <p:nvPr/>
        </p:nvSpPr>
        <p:spPr>
          <a:xfrm>
            <a:off x="4754880" y="3017520"/>
            <a:ext cx="4114800" cy="365760"/>
          </a:xfrm>
          <a:prstGeom prst="roundRect">
            <a:avLst>
              <a:gd name="adj" fmla="val 25000"/>
            </a:avLst>
          </a:prstGeom>
          <a:solidFill>
            <a:srgbClr val="FFB300">
              <a:alpha val="25000"/>
            </a:srgbClr>
          </a:solidFill>
          <a:ln w="12700">
            <a:solidFill>
              <a:srgbClr val="FFB300"/>
            </a:solidFill>
            <a:prstDash val="solid"/>
          </a:ln>
        </p:spPr>
        <p:txBody>
          <a:bodyPr/>
          <a:lstStyle/>
          <a:p>
            <a:endParaRPr lang="en-US"/>
          </a:p>
        </p:txBody>
      </p:sp>
      <p:sp>
        <p:nvSpPr>
          <p:cNvPr id="24" name="Text 20"/>
          <p:cNvSpPr/>
          <p:nvPr/>
        </p:nvSpPr>
        <p:spPr>
          <a:xfrm>
            <a:off x="4937760" y="3063240"/>
            <a:ext cx="3749040" cy="347472"/>
          </a:xfrm>
          <a:prstGeom prst="rect">
            <a:avLst/>
          </a:prstGeom>
          <a:noFill/>
          <a:ln/>
        </p:spPr>
        <p:txBody>
          <a:bodyPr wrap="square" rtlCol="0" anchor="ctr"/>
          <a:lstStyle/>
          <a:p>
            <a:pPr marL="0" indent="0">
              <a:buNone/>
            </a:pPr>
            <a:r>
              <a:rPr lang="en-US" sz="1400" b="1" dirty="0">
                <a:solidFill>
                  <a:srgbClr val="FFB300"/>
                </a:solidFill>
                <a:latin typeface="Calibri" pitchFamily="34" charset="0"/>
                <a:ea typeface="Calibri" pitchFamily="34" charset="-122"/>
                <a:cs typeface="Calibri" pitchFamily="34" charset="-120"/>
              </a:rPr>
              <a:t>Expected Outcomes</a:t>
            </a:r>
            <a:endParaRPr lang="en-US" sz="1400" dirty="0"/>
          </a:p>
        </p:txBody>
      </p:sp>
      <p:sp>
        <p:nvSpPr>
          <p:cNvPr id="25" name="Text 21"/>
          <p:cNvSpPr/>
          <p:nvPr/>
        </p:nvSpPr>
        <p:spPr>
          <a:xfrm>
            <a:off x="4754880" y="3383280"/>
            <a:ext cx="3931920" cy="1188720"/>
          </a:xfrm>
          <a:prstGeom prst="rect">
            <a:avLst/>
          </a:prstGeom>
          <a:noFill/>
          <a:ln/>
        </p:spPr>
        <p:txBody>
          <a:bodyPr wrap="square" rtlCol="0" anchor="ctr"/>
          <a:lstStyle/>
          <a:p>
            <a:r>
              <a:rPr lang="en-US" sz="1400" dirty="0">
                <a:solidFill>
                  <a:srgbClr val="8892A4"/>
                </a:solidFill>
                <a:latin typeface="Calibri" pitchFamily="34" charset="0"/>
                <a:ea typeface="Calibri" pitchFamily="34" charset="-122"/>
                <a:cs typeface="Calibri" pitchFamily="34" charset="-120"/>
              </a:rPr>
              <a:t>• Improved software quality</a:t>
            </a:r>
          </a:p>
          <a:p>
            <a:r>
              <a:rPr lang="en-US" sz="1400" dirty="0">
                <a:solidFill>
                  <a:srgbClr val="8892A4"/>
                </a:solidFill>
                <a:latin typeface="Calibri" pitchFamily="34" charset="0"/>
                <a:ea typeface="Calibri" pitchFamily="34" charset="-122"/>
                <a:cs typeface="Calibri" pitchFamily="34" charset="-120"/>
              </a:rPr>
              <a:t>• Early bug detection</a:t>
            </a:r>
          </a:p>
          <a:p>
            <a:r>
              <a:rPr lang="en-US" sz="1400" dirty="0">
                <a:solidFill>
                  <a:srgbClr val="8892A4"/>
                </a:solidFill>
                <a:latin typeface="Calibri" pitchFamily="34" charset="0"/>
                <a:ea typeface="Calibri" pitchFamily="34" charset="-122"/>
                <a:cs typeface="Calibri" pitchFamily="34" charset="-120"/>
              </a:rPr>
              <a:t>• Faster regression testing</a:t>
            </a:r>
          </a:p>
          <a:p>
            <a:r>
              <a:rPr lang="en-US" sz="1400" dirty="0">
                <a:solidFill>
                  <a:srgbClr val="8892A4"/>
                </a:solidFill>
                <a:latin typeface="Calibri" pitchFamily="34" charset="0"/>
                <a:ea typeface="Calibri" pitchFamily="34" charset="-122"/>
                <a:cs typeface="Calibri" pitchFamily="34" charset="-120"/>
              </a:rPr>
              <a:t>• Reduced testing effort</a:t>
            </a:r>
          </a:p>
          <a:p>
            <a:r>
              <a:rPr lang="en-US" sz="1400" dirty="0">
                <a:solidFill>
                  <a:srgbClr val="8892A4"/>
                </a:solidFill>
                <a:latin typeface="Calibri" pitchFamily="34" charset="0"/>
                <a:ea typeface="Calibri" pitchFamily="34" charset="-122"/>
                <a:cs typeface="Calibri" pitchFamily="34" charset="-120"/>
              </a:rPr>
              <a:t>• Higher release confidence</a:t>
            </a:r>
            <a:endParaRPr lang="en-US" sz="14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a:effectLst/>
      </p:bgPr>
    </p:bg>
    <p:spTree>
      <p:nvGrpSpPr>
        <p:cNvPr id="1" name=""/>
        <p:cNvGrpSpPr/>
        <p:nvPr/>
      </p:nvGrpSpPr>
      <p:grpSpPr>
        <a:xfrm>
          <a:off x="0" y="0"/>
          <a:ext cx="0" cy="0"/>
          <a:chOff x="0" y="0"/>
          <a:chExt cx="0" cy="0"/>
        </a:xfrm>
      </p:grpSpPr>
      <p:sp>
        <p:nvSpPr>
          <p:cNvPr id="24" name="Shape 0">
            <a:extLst>
              <a:ext uri="{FF2B5EF4-FFF2-40B4-BE49-F238E27FC236}">
                <a16:creationId xmlns:a16="http://schemas.microsoft.com/office/drawing/2014/main" id="{6C08385A-4677-6D46-92A0-3FACD6784CBB}"/>
              </a:ext>
            </a:extLst>
          </p:cNvPr>
          <p:cNvSpPr/>
          <p:nvPr/>
        </p:nvSpPr>
        <p:spPr>
          <a:xfrm>
            <a:off x="0" y="0"/>
            <a:ext cx="9144000" cy="1005840"/>
          </a:xfrm>
          <a:prstGeom prst="rect">
            <a:avLst/>
          </a:prstGeom>
          <a:solidFill>
            <a:srgbClr val="141B2D"/>
          </a:solidFill>
          <a:ln w="12700">
            <a:solidFill>
              <a:srgbClr val="1E2D4A"/>
            </a:solidFill>
            <a:prstDash val="solid"/>
          </a:ln>
        </p:spPr>
        <p:txBody>
          <a:bodyPr/>
          <a:lstStyle/>
          <a:p>
            <a:endParaRPr lang="en-US" dirty="0"/>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Text 0"/>
          <p:cNvSpPr/>
          <p:nvPr/>
        </p:nvSpPr>
        <p:spPr>
          <a:xfrm>
            <a:off x="1023256" y="274320"/>
            <a:ext cx="3914503" cy="685800"/>
          </a:xfrm>
          <a:prstGeom prst="rect">
            <a:avLst/>
          </a:prstGeom>
          <a:noFill/>
          <a:ln/>
        </p:spPr>
        <p:txBody>
          <a:bodyPr wrap="square" rtlCol="0" anchor="ctr"/>
          <a:lstStyle/>
          <a:p>
            <a:pPr marL="0" indent="0">
              <a:buNone/>
            </a:pPr>
            <a:r>
              <a:rPr lang="en-US" sz="3600" b="1" dirty="0">
                <a:solidFill>
                  <a:srgbClr val="F1F5FB"/>
                </a:solidFill>
                <a:latin typeface="Calibri" pitchFamily="34" charset="0"/>
                <a:ea typeface="Calibri" pitchFamily="34" charset="-122"/>
                <a:cs typeface="Calibri" pitchFamily="34" charset="-120"/>
              </a:rPr>
              <a:t>System</a:t>
            </a:r>
            <a:endParaRPr lang="en-US" sz="3600" dirty="0"/>
          </a:p>
        </p:txBody>
      </p:sp>
      <p:sp>
        <p:nvSpPr>
          <p:cNvPr id="5" name="Text 1"/>
          <p:cNvSpPr/>
          <p:nvPr/>
        </p:nvSpPr>
        <p:spPr>
          <a:xfrm>
            <a:off x="365760" y="914400"/>
            <a:ext cx="4572000" cy="685800"/>
          </a:xfrm>
          <a:prstGeom prst="rect">
            <a:avLst/>
          </a:prstGeom>
          <a:noFill/>
          <a:ln/>
        </p:spPr>
        <p:txBody>
          <a:bodyPr wrap="square" rtlCol="0" anchor="ctr"/>
          <a:lstStyle/>
          <a:p>
            <a:pPr marL="0" indent="0">
              <a:buNone/>
            </a:pPr>
            <a:r>
              <a:rPr lang="en-US" sz="3600" b="1" dirty="0">
                <a:solidFill>
                  <a:srgbClr val="6C63FF"/>
                </a:solidFill>
                <a:latin typeface="Calibri" pitchFamily="34" charset="0"/>
                <a:ea typeface="Calibri" pitchFamily="34" charset="-122"/>
                <a:cs typeface="Calibri" pitchFamily="34" charset="-120"/>
              </a:rPr>
              <a:t>Design</a:t>
            </a:r>
            <a:endParaRPr lang="en-US" sz="3600" dirty="0"/>
          </a:p>
        </p:txBody>
      </p:sp>
      <p:sp>
        <p:nvSpPr>
          <p:cNvPr id="10" name="Shape 6"/>
          <p:cNvSpPr/>
          <p:nvPr/>
        </p:nvSpPr>
        <p:spPr>
          <a:xfrm>
            <a:off x="2834640" y="3200400"/>
            <a:ext cx="365760" cy="0"/>
          </a:xfrm>
          <a:prstGeom prst="line">
            <a:avLst/>
          </a:prstGeom>
          <a:noFill/>
          <a:ln w="25400">
            <a:solidFill>
              <a:srgbClr val="1E2D4A"/>
            </a:solidFill>
            <a:prstDash val="solid"/>
          </a:ln>
        </p:spPr>
        <p:txBody>
          <a:bodyPr/>
          <a:lstStyle/>
          <a:p>
            <a:endParaRPr lang="en-US"/>
          </a:p>
        </p:txBody>
      </p:sp>
      <p:sp>
        <p:nvSpPr>
          <p:cNvPr id="15" name="Shape 11"/>
          <p:cNvSpPr/>
          <p:nvPr/>
        </p:nvSpPr>
        <p:spPr>
          <a:xfrm>
            <a:off x="5669280" y="3200400"/>
            <a:ext cx="365760" cy="0"/>
          </a:xfrm>
          <a:prstGeom prst="line">
            <a:avLst/>
          </a:prstGeom>
          <a:noFill/>
          <a:ln w="25400">
            <a:solidFill>
              <a:srgbClr val="1E2D4A"/>
            </a:solidFill>
            <a:prstDash val="solid"/>
          </a:ln>
        </p:spPr>
        <p:txBody>
          <a:bodyPr/>
          <a:lstStyle/>
          <a:p>
            <a:endParaRPr lang="en-US"/>
          </a:p>
        </p:txBody>
      </p:sp>
      <p:sp>
        <p:nvSpPr>
          <p:cNvPr id="20" name="Shape 16"/>
          <p:cNvSpPr/>
          <p:nvPr/>
        </p:nvSpPr>
        <p:spPr>
          <a:xfrm>
            <a:off x="5349240" y="169743"/>
            <a:ext cx="2926080" cy="1508760"/>
          </a:xfrm>
          <a:prstGeom prst="roundRect">
            <a:avLst>
              <a:gd name="adj" fmla="val 6061"/>
            </a:avLst>
          </a:prstGeom>
          <a:solidFill>
            <a:srgbClr val="141B2D"/>
          </a:solidFill>
          <a:ln w="12700">
            <a:solidFill>
              <a:srgbClr val="1E2D4A"/>
            </a:solidFill>
            <a:prstDash val="solid"/>
          </a:ln>
        </p:spPr>
        <p:txBody>
          <a:bodyPr/>
          <a:lstStyle/>
          <a:p>
            <a:endParaRPr lang="en-US" dirty="0"/>
          </a:p>
        </p:txBody>
      </p:sp>
      <p:sp>
        <p:nvSpPr>
          <p:cNvPr id="21" name="Text 17"/>
          <p:cNvSpPr/>
          <p:nvPr/>
        </p:nvSpPr>
        <p:spPr>
          <a:xfrm>
            <a:off x="6080760" y="365760"/>
            <a:ext cx="2651760" cy="347472"/>
          </a:xfrm>
          <a:prstGeom prst="rect">
            <a:avLst/>
          </a:prstGeom>
          <a:noFill/>
          <a:ln/>
        </p:spPr>
        <p:txBody>
          <a:bodyPr wrap="square"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1. </a:t>
            </a:r>
            <a:r>
              <a:rPr lang="en-US" sz="1300" dirty="0">
                <a:solidFill>
                  <a:srgbClr val="F1F5FB"/>
                </a:solidFill>
                <a:latin typeface="Calibri" pitchFamily="34" charset="0"/>
                <a:ea typeface="Calibri" pitchFamily="34" charset="-122"/>
                <a:cs typeface="Calibri" pitchFamily="34" charset="-120"/>
              </a:rPr>
              <a:t>Test </a:t>
            </a:r>
            <a:r>
              <a:rPr lang="en-US" sz="1300" dirty="0" err="1">
                <a:solidFill>
                  <a:srgbClr val="F1F5FB"/>
                </a:solidFill>
                <a:latin typeface="Calibri" pitchFamily="34" charset="0"/>
                <a:ea typeface="Calibri" pitchFamily="34" charset="-122"/>
                <a:cs typeface="Calibri" pitchFamily="34" charset="-120"/>
              </a:rPr>
              <a:t>PlanningTest</a:t>
            </a:r>
            <a:endParaRPr lang="en-US" sz="1300" dirty="0"/>
          </a:p>
        </p:txBody>
      </p:sp>
      <p:sp>
        <p:nvSpPr>
          <p:cNvPr id="22" name="Text 18"/>
          <p:cNvSpPr/>
          <p:nvPr/>
        </p:nvSpPr>
        <p:spPr>
          <a:xfrm>
            <a:off x="6080760" y="777240"/>
            <a:ext cx="2651760" cy="347472"/>
          </a:xfrm>
          <a:prstGeom prst="rect">
            <a:avLst/>
          </a:prstGeom>
          <a:noFill/>
          <a:ln/>
        </p:spPr>
        <p:txBody>
          <a:bodyPr wrap="square"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2. </a:t>
            </a:r>
            <a:r>
              <a:rPr lang="en-US" sz="1300" dirty="0">
                <a:solidFill>
                  <a:srgbClr val="F1F5FB"/>
                </a:solidFill>
                <a:latin typeface="Calibri" pitchFamily="34" charset="0"/>
                <a:ea typeface="Calibri" pitchFamily="34" charset="-122"/>
                <a:cs typeface="Calibri" pitchFamily="34" charset="-120"/>
              </a:rPr>
              <a:t>Test Execution</a:t>
            </a:r>
            <a:endParaRPr lang="en-US" sz="1300" dirty="0"/>
          </a:p>
        </p:txBody>
      </p:sp>
      <p:sp>
        <p:nvSpPr>
          <p:cNvPr id="23" name="Text 19"/>
          <p:cNvSpPr/>
          <p:nvPr/>
        </p:nvSpPr>
        <p:spPr>
          <a:xfrm>
            <a:off x="6080760" y="1188720"/>
            <a:ext cx="2651760" cy="347472"/>
          </a:xfrm>
          <a:prstGeom prst="rect">
            <a:avLst/>
          </a:prstGeom>
          <a:noFill/>
          <a:ln/>
        </p:spPr>
        <p:txBody>
          <a:bodyPr wrap="square"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3. </a:t>
            </a:r>
            <a:r>
              <a:rPr lang="en-US" sz="1300" dirty="0">
                <a:solidFill>
                  <a:srgbClr val="F1F5FB"/>
                </a:solidFill>
                <a:latin typeface="Calibri" pitchFamily="34" charset="0"/>
                <a:ea typeface="Calibri" pitchFamily="34" charset="-122"/>
                <a:cs typeface="Calibri" pitchFamily="34" charset="-120"/>
              </a:rPr>
              <a:t>Reporting &amp; Automation</a:t>
            </a:r>
            <a:endParaRPr lang="en-US" sz="1300" dirty="0"/>
          </a:p>
        </p:txBody>
      </p:sp>
      <p:grpSp>
        <p:nvGrpSpPr>
          <p:cNvPr id="35" name="Group 34">
            <a:extLst>
              <a:ext uri="{FF2B5EF4-FFF2-40B4-BE49-F238E27FC236}">
                <a16:creationId xmlns:a16="http://schemas.microsoft.com/office/drawing/2014/main" id="{47180C47-21E4-5FCC-161B-2FFD59051330}"/>
              </a:ext>
            </a:extLst>
          </p:cNvPr>
          <p:cNvGrpSpPr/>
          <p:nvPr/>
        </p:nvGrpSpPr>
        <p:grpSpPr>
          <a:xfrm>
            <a:off x="6035040" y="1920240"/>
            <a:ext cx="2468880" cy="2560320"/>
            <a:chOff x="6035040" y="1920240"/>
            <a:chExt cx="2468880" cy="2560320"/>
          </a:xfrm>
        </p:grpSpPr>
        <p:sp>
          <p:nvSpPr>
            <p:cNvPr id="16" name="Shape 12"/>
            <p:cNvSpPr/>
            <p:nvPr/>
          </p:nvSpPr>
          <p:spPr>
            <a:xfrm>
              <a:off x="6035040" y="1920240"/>
              <a:ext cx="2468880" cy="2560320"/>
            </a:xfrm>
            <a:prstGeom prst="roundRect">
              <a:avLst>
                <a:gd name="adj" fmla="val 3704"/>
              </a:avLst>
            </a:prstGeom>
            <a:solidFill>
              <a:srgbClr val="141B2D"/>
            </a:solidFill>
            <a:ln w="19050">
              <a:solidFill>
                <a:srgbClr val="00E676"/>
              </a:solidFill>
              <a:prstDash val="solid"/>
            </a:ln>
          </p:spPr>
          <p:txBody>
            <a:bodyPr/>
            <a:lstStyle/>
            <a:p>
              <a:endParaRPr lang="en-US"/>
            </a:p>
          </p:txBody>
        </p:sp>
        <p:sp>
          <p:nvSpPr>
            <p:cNvPr id="17" name="Shape 13"/>
            <p:cNvSpPr/>
            <p:nvPr/>
          </p:nvSpPr>
          <p:spPr>
            <a:xfrm>
              <a:off x="6812280" y="2057400"/>
              <a:ext cx="914400" cy="914400"/>
            </a:xfrm>
            <a:prstGeom prst="ellipse">
              <a:avLst/>
            </a:prstGeom>
            <a:solidFill>
              <a:srgbClr val="00E676">
                <a:alpha val="20000"/>
              </a:srgbClr>
            </a:solidFill>
            <a:ln w="12700">
              <a:solidFill>
                <a:srgbClr val="00E676"/>
              </a:solidFill>
              <a:prstDash val="solid"/>
            </a:ln>
          </p:spPr>
          <p:txBody>
            <a:bodyPr/>
            <a:lstStyle/>
            <a:p>
              <a:endParaRPr lang="en-US"/>
            </a:p>
          </p:txBody>
        </p:sp>
        <p:sp>
          <p:nvSpPr>
            <p:cNvPr id="18" name="Text 14"/>
            <p:cNvSpPr/>
            <p:nvPr/>
          </p:nvSpPr>
          <p:spPr>
            <a:xfrm>
              <a:off x="6035040" y="3154680"/>
              <a:ext cx="2468880" cy="411480"/>
            </a:xfrm>
            <a:prstGeom prst="rect">
              <a:avLst/>
            </a:prstGeom>
            <a:noFill/>
            <a:ln/>
          </p:spPr>
          <p:txBody>
            <a:bodyPr wrap="square" rtlCol="0" anchor="ctr"/>
            <a:lstStyle/>
            <a:p>
              <a:pPr marL="0" indent="0" algn="ctr">
                <a:buNone/>
              </a:pPr>
              <a:r>
                <a:rPr lang="en-US" sz="1400" b="1" dirty="0">
                  <a:solidFill>
                    <a:srgbClr val="00E676"/>
                  </a:solidFill>
                  <a:latin typeface="Calibri" pitchFamily="34" charset="0"/>
                  <a:ea typeface="Calibri" pitchFamily="34" charset="-122"/>
                  <a:cs typeface="Calibri" pitchFamily="34" charset="-120"/>
                </a:rPr>
                <a:t>Automation Testing</a:t>
              </a:r>
              <a:endParaRPr lang="en-US" sz="1400" dirty="0"/>
            </a:p>
          </p:txBody>
        </p:sp>
        <p:sp>
          <p:nvSpPr>
            <p:cNvPr id="19" name="Text 15"/>
            <p:cNvSpPr/>
            <p:nvPr/>
          </p:nvSpPr>
          <p:spPr>
            <a:xfrm>
              <a:off x="6035040" y="3566160"/>
              <a:ext cx="2468880" cy="91440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Selenium WebDriver</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Test Scripts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Assertions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Test Execution</a:t>
              </a:r>
              <a:endParaRPr lang="en-US" sz="1100" dirty="0"/>
            </a:p>
          </p:txBody>
        </p:sp>
        <p:pic>
          <p:nvPicPr>
            <p:cNvPr id="28" name="Picture 27">
              <a:extLst>
                <a:ext uri="{FF2B5EF4-FFF2-40B4-BE49-F238E27FC236}">
                  <a16:creationId xmlns:a16="http://schemas.microsoft.com/office/drawing/2014/main" id="{B2AF9659-D818-B405-7D8E-7B27C9E141FD}"/>
                </a:ext>
              </a:extLst>
            </p:cNvPr>
            <p:cNvPicPr>
              <a:picLocks noChangeAspect="1"/>
            </p:cNvPicPr>
            <p:nvPr/>
          </p:nvPicPr>
          <p:blipFill>
            <a:blip r:embed="rId5"/>
            <a:stretch>
              <a:fillRect/>
            </a:stretch>
          </p:blipFill>
          <p:spPr>
            <a:xfrm>
              <a:off x="6841113" y="2079400"/>
              <a:ext cx="856733" cy="856733"/>
            </a:xfrm>
            <a:prstGeom prst="rect">
              <a:avLst/>
            </a:prstGeom>
          </p:spPr>
        </p:pic>
      </p:grpSp>
      <p:grpSp>
        <p:nvGrpSpPr>
          <p:cNvPr id="34" name="Group 33">
            <a:extLst>
              <a:ext uri="{FF2B5EF4-FFF2-40B4-BE49-F238E27FC236}">
                <a16:creationId xmlns:a16="http://schemas.microsoft.com/office/drawing/2014/main" id="{947AA7F9-E893-8DF4-0836-1C5FBF1D1BCD}"/>
              </a:ext>
            </a:extLst>
          </p:cNvPr>
          <p:cNvGrpSpPr/>
          <p:nvPr/>
        </p:nvGrpSpPr>
        <p:grpSpPr>
          <a:xfrm>
            <a:off x="3200400" y="1920240"/>
            <a:ext cx="2468880" cy="2560320"/>
            <a:chOff x="3200400" y="1920240"/>
            <a:chExt cx="2468880" cy="2560320"/>
          </a:xfrm>
        </p:grpSpPr>
        <p:sp>
          <p:nvSpPr>
            <p:cNvPr id="11" name="Shape 7"/>
            <p:cNvSpPr/>
            <p:nvPr/>
          </p:nvSpPr>
          <p:spPr>
            <a:xfrm>
              <a:off x="3200400" y="1920240"/>
              <a:ext cx="2468880" cy="2560320"/>
            </a:xfrm>
            <a:prstGeom prst="roundRect">
              <a:avLst>
                <a:gd name="adj" fmla="val 3704"/>
              </a:avLst>
            </a:prstGeom>
            <a:solidFill>
              <a:srgbClr val="141B2D"/>
            </a:solidFill>
            <a:ln w="19050">
              <a:solidFill>
                <a:srgbClr val="6C63FF"/>
              </a:solidFill>
              <a:prstDash val="solid"/>
            </a:ln>
          </p:spPr>
          <p:txBody>
            <a:bodyPr/>
            <a:lstStyle/>
            <a:p>
              <a:endParaRPr lang="en-US"/>
            </a:p>
          </p:txBody>
        </p:sp>
        <p:sp>
          <p:nvSpPr>
            <p:cNvPr id="12" name="Shape 8"/>
            <p:cNvSpPr/>
            <p:nvPr/>
          </p:nvSpPr>
          <p:spPr>
            <a:xfrm>
              <a:off x="3977640" y="2057400"/>
              <a:ext cx="914400" cy="914400"/>
            </a:xfrm>
            <a:prstGeom prst="ellipse">
              <a:avLst/>
            </a:prstGeom>
            <a:solidFill>
              <a:srgbClr val="6C63FF">
                <a:alpha val="20000"/>
              </a:srgbClr>
            </a:solidFill>
            <a:ln w="12700">
              <a:solidFill>
                <a:srgbClr val="6C63FF"/>
              </a:solidFill>
              <a:prstDash val="solid"/>
            </a:ln>
          </p:spPr>
          <p:txBody>
            <a:bodyPr/>
            <a:lstStyle/>
            <a:p>
              <a:endParaRPr lang="en-US"/>
            </a:p>
          </p:txBody>
        </p:sp>
        <p:sp>
          <p:nvSpPr>
            <p:cNvPr id="13" name="Text 9"/>
            <p:cNvSpPr/>
            <p:nvPr/>
          </p:nvSpPr>
          <p:spPr>
            <a:xfrm>
              <a:off x="3200400" y="3154680"/>
              <a:ext cx="2468880" cy="411480"/>
            </a:xfrm>
            <a:prstGeom prst="rect">
              <a:avLst/>
            </a:prstGeom>
            <a:noFill/>
            <a:ln/>
          </p:spPr>
          <p:txBody>
            <a:bodyPr wrap="square" rtlCol="0" anchor="ctr"/>
            <a:lstStyle/>
            <a:p>
              <a:pPr marL="0" indent="0" algn="ctr">
                <a:buNone/>
              </a:pPr>
              <a:r>
                <a:rPr lang="en-US" sz="1400" b="1" dirty="0">
                  <a:solidFill>
                    <a:srgbClr val="6C63FF"/>
                  </a:solidFill>
                  <a:latin typeface="Calibri" pitchFamily="34" charset="0"/>
                  <a:ea typeface="Calibri" pitchFamily="34" charset="-122"/>
                  <a:cs typeface="Calibri" pitchFamily="34" charset="-120"/>
                </a:rPr>
                <a:t>API Testing</a:t>
              </a:r>
              <a:endParaRPr lang="en-US" sz="1400" dirty="0"/>
            </a:p>
          </p:txBody>
        </p:sp>
        <p:sp>
          <p:nvSpPr>
            <p:cNvPr id="14" name="Text 10"/>
            <p:cNvSpPr/>
            <p:nvPr/>
          </p:nvSpPr>
          <p:spPr>
            <a:xfrm>
              <a:off x="3200400" y="3566160"/>
              <a:ext cx="2468880" cy="91440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Postman Collection</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GET Requests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POST Requests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Response Validation</a:t>
              </a:r>
              <a:endParaRPr lang="en-US" sz="1100" dirty="0"/>
            </a:p>
          </p:txBody>
        </p:sp>
        <p:pic>
          <p:nvPicPr>
            <p:cNvPr id="30" name="Picture 29">
              <a:extLst>
                <a:ext uri="{FF2B5EF4-FFF2-40B4-BE49-F238E27FC236}">
                  <a16:creationId xmlns:a16="http://schemas.microsoft.com/office/drawing/2014/main" id="{29F9CC3D-3BCF-F34C-FAFF-975E74D0CB7D}"/>
                </a:ext>
              </a:extLst>
            </p:cNvPr>
            <p:cNvPicPr>
              <a:picLocks noChangeAspect="1"/>
            </p:cNvPicPr>
            <p:nvPr/>
          </p:nvPicPr>
          <p:blipFill>
            <a:blip r:embed="rId6"/>
            <a:stretch>
              <a:fillRect/>
            </a:stretch>
          </p:blipFill>
          <p:spPr>
            <a:xfrm>
              <a:off x="4008701" y="2090040"/>
              <a:ext cx="847973" cy="847973"/>
            </a:xfrm>
            <a:prstGeom prst="rect">
              <a:avLst/>
            </a:prstGeom>
          </p:spPr>
        </p:pic>
      </p:grpSp>
      <p:grpSp>
        <p:nvGrpSpPr>
          <p:cNvPr id="33" name="Group 32">
            <a:extLst>
              <a:ext uri="{FF2B5EF4-FFF2-40B4-BE49-F238E27FC236}">
                <a16:creationId xmlns:a16="http://schemas.microsoft.com/office/drawing/2014/main" id="{D7327307-741B-191A-77B9-ED9731B1209B}"/>
              </a:ext>
            </a:extLst>
          </p:cNvPr>
          <p:cNvGrpSpPr/>
          <p:nvPr/>
        </p:nvGrpSpPr>
        <p:grpSpPr>
          <a:xfrm>
            <a:off x="365760" y="1920240"/>
            <a:ext cx="2468880" cy="2560320"/>
            <a:chOff x="365760" y="1920240"/>
            <a:chExt cx="2468880" cy="2560320"/>
          </a:xfrm>
        </p:grpSpPr>
        <p:sp>
          <p:nvSpPr>
            <p:cNvPr id="6" name="Shape 2"/>
            <p:cNvSpPr/>
            <p:nvPr/>
          </p:nvSpPr>
          <p:spPr>
            <a:xfrm>
              <a:off x="365760" y="1920240"/>
              <a:ext cx="2468880" cy="2560320"/>
            </a:xfrm>
            <a:prstGeom prst="roundRect">
              <a:avLst>
                <a:gd name="adj" fmla="val 3704"/>
              </a:avLst>
            </a:prstGeom>
            <a:solidFill>
              <a:srgbClr val="141B2D"/>
            </a:solidFill>
            <a:ln w="19050">
              <a:solidFill>
                <a:srgbClr val="4FC3F7"/>
              </a:solidFill>
              <a:prstDash val="solid"/>
            </a:ln>
          </p:spPr>
          <p:txBody>
            <a:bodyPr/>
            <a:lstStyle/>
            <a:p>
              <a:endParaRPr lang="en-US"/>
            </a:p>
          </p:txBody>
        </p:sp>
        <p:sp>
          <p:nvSpPr>
            <p:cNvPr id="7" name="Shape 3"/>
            <p:cNvSpPr/>
            <p:nvPr/>
          </p:nvSpPr>
          <p:spPr>
            <a:xfrm>
              <a:off x="1143000" y="2057400"/>
              <a:ext cx="914400" cy="914400"/>
            </a:xfrm>
            <a:prstGeom prst="ellipse">
              <a:avLst/>
            </a:prstGeom>
            <a:solidFill>
              <a:srgbClr val="4FC3F7">
                <a:alpha val="20000"/>
              </a:srgbClr>
            </a:solidFill>
            <a:ln w="12700">
              <a:solidFill>
                <a:srgbClr val="4FC3F7"/>
              </a:solidFill>
              <a:prstDash val="solid"/>
            </a:ln>
          </p:spPr>
          <p:txBody>
            <a:bodyPr/>
            <a:lstStyle/>
            <a:p>
              <a:endParaRPr lang="en-US"/>
            </a:p>
          </p:txBody>
        </p:sp>
        <p:sp>
          <p:nvSpPr>
            <p:cNvPr id="8" name="Text 4"/>
            <p:cNvSpPr/>
            <p:nvPr/>
          </p:nvSpPr>
          <p:spPr>
            <a:xfrm>
              <a:off x="365760" y="3154680"/>
              <a:ext cx="2468880" cy="411480"/>
            </a:xfrm>
            <a:prstGeom prst="rect">
              <a:avLst/>
            </a:prstGeom>
            <a:noFill/>
            <a:ln/>
          </p:spPr>
          <p:txBody>
            <a:bodyPr wrap="square" rtlCol="0" anchor="ctr"/>
            <a:lstStyle/>
            <a:p>
              <a:pPr marL="0" indent="0" algn="ctr">
                <a:buNone/>
              </a:pPr>
              <a:r>
                <a:rPr lang="en-US" sz="1400" b="1" dirty="0">
                  <a:solidFill>
                    <a:srgbClr val="4FC3F7"/>
                  </a:solidFill>
                  <a:latin typeface="Calibri" pitchFamily="34" charset="0"/>
                  <a:ea typeface="Calibri" pitchFamily="34" charset="-122"/>
                  <a:cs typeface="Calibri" pitchFamily="34" charset="-120"/>
                </a:rPr>
                <a:t>Test Design</a:t>
              </a:r>
              <a:endParaRPr lang="en-US" sz="1400" dirty="0"/>
            </a:p>
          </p:txBody>
        </p:sp>
        <p:sp>
          <p:nvSpPr>
            <p:cNvPr id="9" name="Text 5"/>
            <p:cNvSpPr/>
            <p:nvPr/>
          </p:nvSpPr>
          <p:spPr>
            <a:xfrm>
              <a:off x="365760" y="3566160"/>
              <a:ext cx="2468880" cy="91440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User Stories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Test Scenarios</a:t>
              </a:r>
              <a:endParaRPr lang="ar-EG" sz="1100" dirty="0">
                <a:solidFill>
                  <a:srgbClr val="8892A4"/>
                </a:solidFill>
                <a:latin typeface="Calibri" pitchFamily="34" charset="0"/>
                <a:ea typeface="Calibri" pitchFamily="34" charset="-122"/>
                <a:cs typeface="Calibri" pitchFamily="34" charset="-120"/>
              </a:endParaRPr>
            </a:p>
            <a:p>
              <a:pPr marL="0" indent="0" algn="ctr">
                <a:buNone/>
              </a:pPr>
              <a:r>
                <a:rPr lang="en-US" sz="1100" dirty="0">
                  <a:solidFill>
                    <a:srgbClr val="8892A4"/>
                  </a:solidFill>
                  <a:latin typeface="Calibri" pitchFamily="34" charset="0"/>
                  <a:ea typeface="Calibri" pitchFamily="34" charset="-122"/>
                  <a:cs typeface="Calibri" pitchFamily="34" charset="-120"/>
                </a:rPr>
                <a:t>Test Cases</a:t>
              </a:r>
              <a:endParaRPr lang="en-US" sz="1100" dirty="0"/>
            </a:p>
          </p:txBody>
        </p:sp>
        <p:pic>
          <p:nvPicPr>
            <p:cNvPr id="32" name="Picture 31">
              <a:extLst>
                <a:ext uri="{FF2B5EF4-FFF2-40B4-BE49-F238E27FC236}">
                  <a16:creationId xmlns:a16="http://schemas.microsoft.com/office/drawing/2014/main" id="{79488B72-406B-95BF-7346-17837B4A6EF9}"/>
                </a:ext>
              </a:extLst>
            </p:cNvPr>
            <p:cNvPicPr>
              <a:picLocks noChangeAspect="1"/>
            </p:cNvPicPr>
            <p:nvPr/>
          </p:nvPicPr>
          <p:blipFill>
            <a:blip r:embed="rId7"/>
            <a:stretch>
              <a:fillRect/>
            </a:stretch>
          </p:blipFill>
          <p:spPr>
            <a:xfrm>
              <a:off x="1165573" y="2079400"/>
              <a:ext cx="869254" cy="869254"/>
            </a:xfrm>
            <a:prstGeom prst="rect">
              <a:avLst/>
            </a:prstGeom>
          </p:spPr>
        </p:pic>
      </p:grpSp>
    </p:spTree>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a:effectLst/>
      </p:bgPr>
    </p:bg>
    <p:spTree>
      <p:nvGrpSpPr>
        <p:cNvPr id="1" name=""/>
        <p:cNvGrpSpPr/>
        <p:nvPr/>
      </p:nvGrpSpPr>
      <p:grpSpPr>
        <a:xfrm>
          <a:off x="0" y="0"/>
          <a:ext cx="0" cy="0"/>
          <a:chOff x="0" y="0"/>
          <a:chExt cx="0" cy="0"/>
        </a:xfrm>
      </p:grpSpPr>
      <p:sp>
        <p:nvSpPr>
          <p:cNvPr id="15" name="Shape 0">
            <a:extLst>
              <a:ext uri="{FF2B5EF4-FFF2-40B4-BE49-F238E27FC236}">
                <a16:creationId xmlns:a16="http://schemas.microsoft.com/office/drawing/2014/main" id="{72BC6261-14B6-7276-7387-A71522E309C0}"/>
              </a:ext>
            </a:extLst>
          </p:cNvPr>
          <p:cNvSpPr/>
          <p:nvPr/>
        </p:nvSpPr>
        <p:spPr>
          <a:xfrm>
            <a:off x="0" y="0"/>
            <a:ext cx="9144000" cy="1005840"/>
          </a:xfrm>
          <a:prstGeom prst="rect">
            <a:avLst/>
          </a:prstGeom>
          <a:solidFill>
            <a:srgbClr val="141B2D"/>
          </a:solidFill>
          <a:ln w="12700">
            <a:solidFill>
              <a:srgbClr val="1E2D4A"/>
            </a:solidFill>
            <a:prstDash val="solid"/>
          </a:ln>
        </p:spPr>
        <p:txBody>
          <a:bodyPr/>
          <a:lstStyle/>
          <a:p>
            <a:endParaRPr lang="en-US" dirty="0"/>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0" y="0"/>
            <a:ext cx="9144000" cy="54864"/>
          </a:xfrm>
          <a:prstGeom prst="rect">
            <a:avLst/>
          </a:prstGeom>
          <a:solidFill>
            <a:srgbClr val="4FC3F7"/>
          </a:solidFill>
          <a:ln w="12700">
            <a:solidFill>
              <a:srgbClr val="4FC3F7"/>
            </a:solidFill>
            <a:prstDash val="solid"/>
          </a:ln>
        </p:spPr>
        <p:txBody>
          <a:bodyPr/>
          <a:lstStyle/>
          <a:p>
            <a:endParaRPr lang="en-US"/>
          </a:p>
        </p:txBody>
      </p:sp>
      <p:sp>
        <p:nvSpPr>
          <p:cNvPr id="5" name="Text 1"/>
          <p:cNvSpPr/>
          <p:nvPr/>
        </p:nvSpPr>
        <p:spPr>
          <a:xfrm>
            <a:off x="945930" y="274320"/>
            <a:ext cx="7649429" cy="640080"/>
          </a:xfrm>
          <a:prstGeom prst="rect">
            <a:avLst/>
          </a:prstGeom>
          <a:noFill/>
          <a:ln/>
        </p:spPr>
        <p:txBody>
          <a:bodyPr wrap="square" rtlCol="0" anchor="ctr"/>
          <a:lstStyle/>
          <a:p>
            <a:pPr marL="0" indent="0">
              <a:buNone/>
            </a:pPr>
            <a:r>
              <a:rPr lang="en-US" sz="3400" b="1" dirty="0">
                <a:solidFill>
                  <a:srgbClr val="F1F5FB"/>
                </a:solidFill>
                <a:latin typeface="Calibri" pitchFamily="34" charset="0"/>
                <a:ea typeface="Calibri" pitchFamily="34" charset="-122"/>
                <a:cs typeface="Calibri" pitchFamily="34" charset="-120"/>
              </a:rPr>
              <a:t>Demo &amp;</a:t>
            </a:r>
            <a:endParaRPr lang="en-US" sz="3400" dirty="0"/>
          </a:p>
        </p:txBody>
      </p:sp>
      <p:sp>
        <p:nvSpPr>
          <p:cNvPr id="6" name="Text 2"/>
          <p:cNvSpPr/>
          <p:nvPr/>
        </p:nvSpPr>
        <p:spPr>
          <a:xfrm>
            <a:off x="365760" y="868680"/>
            <a:ext cx="8229600" cy="640080"/>
          </a:xfrm>
          <a:prstGeom prst="rect">
            <a:avLst/>
          </a:prstGeom>
          <a:noFill/>
          <a:ln/>
        </p:spPr>
        <p:txBody>
          <a:bodyPr wrap="square" rtlCol="0" anchor="ctr"/>
          <a:lstStyle/>
          <a:p>
            <a:pPr marL="0" indent="0">
              <a:buNone/>
            </a:pPr>
            <a:r>
              <a:rPr lang="en-US" sz="3400" b="1" dirty="0">
                <a:solidFill>
                  <a:srgbClr val="4FC3F7"/>
                </a:solidFill>
                <a:latin typeface="Calibri" pitchFamily="34" charset="0"/>
                <a:ea typeface="Calibri" pitchFamily="34" charset="-122"/>
                <a:cs typeface="Calibri" pitchFamily="34" charset="-120"/>
              </a:rPr>
              <a:t>Screenshots</a:t>
            </a:r>
            <a:endParaRPr lang="en-US" sz="3400" dirty="0"/>
          </a:p>
        </p:txBody>
      </p:sp>
      <p:sp>
        <p:nvSpPr>
          <p:cNvPr id="7" name="Shape 3"/>
          <p:cNvSpPr/>
          <p:nvPr/>
        </p:nvSpPr>
        <p:spPr>
          <a:xfrm>
            <a:off x="365760" y="1691640"/>
            <a:ext cx="4114800" cy="2560320"/>
          </a:xfrm>
          <a:prstGeom prst="roundRect">
            <a:avLst>
              <a:gd name="adj" fmla="val 3571"/>
            </a:avLst>
          </a:prstGeom>
          <a:solidFill>
            <a:srgbClr val="1A2340"/>
          </a:solidFill>
          <a:ln w="12700">
            <a:solidFill>
              <a:srgbClr val="1E2D4A"/>
            </a:solidFill>
            <a:prstDash val="solid"/>
          </a:ln>
        </p:spPr>
        <p:txBody>
          <a:bodyPr/>
          <a:lstStyle/>
          <a:p>
            <a:endParaRPr lang="en-US"/>
          </a:p>
        </p:txBody>
      </p:sp>
      <p:sp>
        <p:nvSpPr>
          <p:cNvPr id="8" name="Text 4"/>
          <p:cNvSpPr/>
          <p:nvPr/>
        </p:nvSpPr>
        <p:spPr>
          <a:xfrm>
            <a:off x="365760" y="1691640"/>
            <a:ext cx="4114800" cy="256032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1</a:t>
            </a:r>
            <a:endParaRPr lang="en-US" sz="1200" dirty="0"/>
          </a:p>
        </p:txBody>
      </p:sp>
      <p:sp>
        <p:nvSpPr>
          <p:cNvPr id="9" name="Shape 5"/>
          <p:cNvSpPr/>
          <p:nvPr/>
        </p:nvSpPr>
        <p:spPr>
          <a:xfrm>
            <a:off x="4663440" y="1691640"/>
            <a:ext cx="4114800" cy="1143000"/>
          </a:xfrm>
          <a:prstGeom prst="roundRect">
            <a:avLst>
              <a:gd name="adj" fmla="val 8000"/>
            </a:avLst>
          </a:prstGeom>
          <a:solidFill>
            <a:srgbClr val="1A2340"/>
          </a:solidFill>
          <a:ln w="12700">
            <a:solidFill>
              <a:srgbClr val="1E2D4A"/>
            </a:solidFill>
            <a:prstDash val="solid"/>
          </a:ln>
        </p:spPr>
        <p:txBody>
          <a:bodyPr/>
          <a:lstStyle/>
          <a:p>
            <a:endParaRPr lang="en-US"/>
          </a:p>
        </p:txBody>
      </p:sp>
      <p:sp>
        <p:nvSpPr>
          <p:cNvPr id="10" name="Text 6"/>
          <p:cNvSpPr/>
          <p:nvPr/>
        </p:nvSpPr>
        <p:spPr>
          <a:xfrm>
            <a:off x="4663440" y="1691640"/>
            <a:ext cx="4114800" cy="114300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2</a:t>
            </a:r>
            <a:endParaRPr lang="en-US" sz="1200" dirty="0"/>
          </a:p>
        </p:txBody>
      </p:sp>
      <p:sp>
        <p:nvSpPr>
          <p:cNvPr id="11" name="Shape 7"/>
          <p:cNvSpPr/>
          <p:nvPr/>
        </p:nvSpPr>
        <p:spPr>
          <a:xfrm>
            <a:off x="4663440" y="3017520"/>
            <a:ext cx="4114800" cy="1234440"/>
          </a:xfrm>
          <a:prstGeom prst="roundRect">
            <a:avLst>
              <a:gd name="adj" fmla="val 7407"/>
            </a:avLst>
          </a:prstGeom>
          <a:solidFill>
            <a:srgbClr val="1A2340"/>
          </a:solidFill>
          <a:ln w="12700">
            <a:solidFill>
              <a:srgbClr val="1E2D4A"/>
            </a:solidFill>
            <a:prstDash val="solid"/>
          </a:ln>
        </p:spPr>
        <p:txBody>
          <a:bodyPr/>
          <a:lstStyle/>
          <a:p>
            <a:endParaRPr lang="en-US"/>
          </a:p>
        </p:txBody>
      </p:sp>
      <p:sp>
        <p:nvSpPr>
          <p:cNvPr id="12" name="Text 8"/>
          <p:cNvSpPr/>
          <p:nvPr/>
        </p:nvSpPr>
        <p:spPr>
          <a:xfrm>
            <a:off x="4663440" y="3017520"/>
            <a:ext cx="4114800" cy="1234440"/>
          </a:xfrm>
          <a:prstGeom prst="rect">
            <a:avLst/>
          </a:prstGeom>
          <a:noFill/>
          <a:ln/>
        </p:spPr>
        <p:txBody>
          <a:bodyPr wrap="square" rtlCol="0" anchor="ctr"/>
          <a:lstStyle/>
          <a:p>
            <a:pPr marL="0" indent="0" algn="ctr">
              <a:buNone/>
            </a:pPr>
            <a:r>
              <a:rPr lang="en-US" sz="1200" dirty="0">
                <a:solidFill>
                  <a:srgbClr val="8892A4"/>
                </a:solidFill>
                <a:latin typeface="Calibri" pitchFamily="34" charset="0"/>
                <a:ea typeface="Calibri" pitchFamily="34" charset="-122"/>
                <a:cs typeface="Calibri" pitchFamily="34" charset="-120"/>
              </a:rPr>
              <a:t>Screenshot 3</a:t>
            </a:r>
            <a:endParaRPr lang="en-US" sz="1200" dirty="0"/>
          </a:p>
        </p:txBody>
      </p:sp>
      <p:pic>
        <p:nvPicPr>
          <p:cNvPr id="14" name="Picture 13">
            <a:extLst>
              <a:ext uri="{FF2B5EF4-FFF2-40B4-BE49-F238E27FC236}">
                <a16:creationId xmlns:a16="http://schemas.microsoft.com/office/drawing/2014/main" id="{E4A2EEFA-00A7-2D75-BFEE-BA4258BE006F}"/>
              </a:ext>
            </a:extLst>
          </p:cNvPr>
          <p:cNvPicPr>
            <a:picLocks noChangeAspect="1"/>
          </p:cNvPicPr>
          <p:nvPr/>
        </p:nvPicPr>
        <p:blipFill>
          <a:blip r:embed="rId5" cstate="print">
            <a:extLst>
              <a:ext uri="{28A0092B-C50C-407E-A947-70E740481C1C}">
                <a14:useLocalDpi xmlns:a14="http://schemas.microsoft.com/office/drawing/2010/main"/>
              </a:ext>
            </a:extLst>
          </a:blip>
          <a:srcRect r="22168" b="9799"/>
          <a:stretch>
            <a:fillRect/>
          </a:stretch>
        </p:blipFill>
        <p:spPr>
          <a:xfrm>
            <a:off x="365760" y="1691641"/>
            <a:ext cx="4114800" cy="258318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9" name="Picture 18">
            <a:extLst>
              <a:ext uri="{FF2B5EF4-FFF2-40B4-BE49-F238E27FC236}">
                <a16:creationId xmlns:a16="http://schemas.microsoft.com/office/drawing/2014/main" id="{97065F7C-08AE-B8AD-8920-714ECC4E7079}"/>
              </a:ext>
            </a:extLst>
          </p:cNvPr>
          <p:cNvPicPr>
            <a:picLocks noChangeAspect="1"/>
          </p:cNvPicPr>
          <p:nvPr/>
        </p:nvPicPr>
        <p:blipFill>
          <a:blip r:embed="rId6"/>
          <a:srcRect t="-1" r="4546" b="41577"/>
          <a:stretch>
            <a:fillRect/>
          </a:stretch>
        </p:blipFill>
        <p:spPr>
          <a:xfrm>
            <a:off x="4663441" y="1691641"/>
            <a:ext cx="4114800" cy="123444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21" name="Picture 20">
            <a:extLst>
              <a:ext uri="{FF2B5EF4-FFF2-40B4-BE49-F238E27FC236}">
                <a16:creationId xmlns:a16="http://schemas.microsoft.com/office/drawing/2014/main" id="{2BA8E4FB-E779-BD88-EB6A-102FE7A0FD81}"/>
              </a:ext>
            </a:extLst>
          </p:cNvPr>
          <p:cNvPicPr>
            <a:picLocks noChangeAspect="1"/>
          </p:cNvPicPr>
          <p:nvPr/>
        </p:nvPicPr>
        <p:blipFill>
          <a:blip r:embed="rId7"/>
          <a:srcRect b="5105"/>
          <a:stretch>
            <a:fillRect/>
          </a:stretch>
        </p:blipFill>
        <p:spPr>
          <a:xfrm>
            <a:off x="4663440" y="3017521"/>
            <a:ext cx="4114801" cy="123444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a:effectLst/>
      </p:bgPr>
    </p:bg>
    <p:spTree>
      <p:nvGrpSpPr>
        <p:cNvPr id="1" name=""/>
        <p:cNvGrpSpPr/>
        <p:nvPr/>
      </p:nvGrpSpPr>
      <p:grpSpPr>
        <a:xfrm>
          <a:off x="0" y="0"/>
          <a:ext cx="0" cy="0"/>
          <a:chOff x="0" y="0"/>
          <a:chExt cx="0" cy="0"/>
        </a:xfrm>
      </p:grpSpPr>
      <p:sp>
        <p:nvSpPr>
          <p:cNvPr id="4" name="Shape 0"/>
          <p:cNvSpPr/>
          <p:nvPr/>
        </p:nvSpPr>
        <p:spPr>
          <a:xfrm>
            <a:off x="0" y="0"/>
            <a:ext cx="9144000" cy="1005840"/>
          </a:xfrm>
          <a:prstGeom prst="rect">
            <a:avLst/>
          </a:prstGeom>
          <a:solidFill>
            <a:srgbClr val="141B2D"/>
          </a:solidFill>
          <a:ln w="12700">
            <a:solidFill>
              <a:srgbClr val="1E2D4A"/>
            </a:solidFill>
            <a:prstDash val="solid"/>
          </a:ln>
        </p:spPr>
        <p:txBody>
          <a:bodyPr/>
          <a:lstStyle/>
          <a:p>
            <a:endParaRPr lang="en-US" dirty="0"/>
          </a:p>
        </p:txBody>
      </p:sp>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5" name="Shape 1"/>
          <p:cNvSpPr/>
          <p:nvPr/>
        </p:nvSpPr>
        <p:spPr>
          <a:xfrm>
            <a:off x="0" y="0"/>
            <a:ext cx="9144000" cy="54864"/>
          </a:xfrm>
          <a:prstGeom prst="rect">
            <a:avLst/>
          </a:prstGeom>
          <a:solidFill>
            <a:srgbClr val="00E676"/>
          </a:solidFill>
          <a:ln w="12700">
            <a:solidFill>
              <a:srgbClr val="00E676"/>
            </a:solidFill>
            <a:prstDash val="solid"/>
          </a:ln>
        </p:spPr>
        <p:txBody>
          <a:bodyPr/>
          <a:lstStyle/>
          <a:p>
            <a:endParaRPr lang="en-US"/>
          </a:p>
        </p:txBody>
      </p:sp>
      <p:sp>
        <p:nvSpPr>
          <p:cNvPr id="6" name="Text 2"/>
          <p:cNvSpPr/>
          <p:nvPr/>
        </p:nvSpPr>
        <p:spPr>
          <a:xfrm>
            <a:off x="1556656" y="137160"/>
            <a:ext cx="7038703" cy="548640"/>
          </a:xfrm>
          <a:prstGeom prst="rect">
            <a:avLst/>
          </a:prstGeom>
          <a:noFill/>
          <a:ln/>
        </p:spPr>
        <p:txBody>
          <a:bodyPr wrap="square" rtlCol="0" anchor="ctr"/>
          <a:lstStyle/>
          <a:p>
            <a:pPr marL="0" indent="0">
              <a:buNone/>
            </a:pPr>
            <a:r>
              <a:rPr lang="en-US" sz="2600" b="1" dirty="0">
                <a:solidFill>
                  <a:srgbClr val="F1F5FB"/>
                </a:solidFill>
                <a:latin typeface="Calibri" pitchFamily="34" charset="0"/>
                <a:ea typeface="Calibri" pitchFamily="34" charset="-122"/>
                <a:cs typeface="Calibri" pitchFamily="34" charset="-120"/>
              </a:rPr>
              <a:t>QA Results Dashboard</a:t>
            </a:r>
            <a:endParaRPr lang="en-US" sz="2600" dirty="0"/>
          </a:p>
        </p:txBody>
      </p:sp>
      <p:sp>
        <p:nvSpPr>
          <p:cNvPr id="7" name="Text 3"/>
          <p:cNvSpPr/>
          <p:nvPr/>
        </p:nvSpPr>
        <p:spPr>
          <a:xfrm>
            <a:off x="1360714" y="621792"/>
            <a:ext cx="3577046" cy="27432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Testing Team — Final Metrics</a:t>
            </a:r>
            <a:endParaRPr lang="en-US" sz="1100" dirty="0"/>
          </a:p>
        </p:txBody>
      </p:sp>
      <p:sp>
        <p:nvSpPr>
          <p:cNvPr id="8" name="Shape 4"/>
          <p:cNvSpPr/>
          <p:nvPr/>
        </p:nvSpPr>
        <p:spPr>
          <a:xfrm>
            <a:off x="274320" y="1143000"/>
            <a:ext cx="1965960" cy="1371600"/>
          </a:xfrm>
          <a:prstGeom prst="roundRect">
            <a:avLst>
              <a:gd name="adj" fmla="val 6667"/>
            </a:avLst>
          </a:prstGeom>
          <a:solidFill>
            <a:srgbClr val="1A2340"/>
          </a:solidFill>
          <a:ln w="19050">
            <a:solidFill>
              <a:srgbClr val="6C63FF"/>
            </a:solidFill>
            <a:prstDash val="solid"/>
          </a:ln>
        </p:spPr>
        <p:txBody>
          <a:bodyPr/>
          <a:lstStyle/>
          <a:p>
            <a:endParaRPr lang="en-US"/>
          </a:p>
        </p:txBody>
      </p:sp>
      <p:sp>
        <p:nvSpPr>
          <p:cNvPr id="9" name="Text 5"/>
          <p:cNvSpPr/>
          <p:nvPr/>
        </p:nvSpPr>
        <p:spPr>
          <a:xfrm>
            <a:off x="274320" y="1234440"/>
            <a:ext cx="1965960" cy="777240"/>
          </a:xfrm>
          <a:prstGeom prst="rect">
            <a:avLst/>
          </a:prstGeom>
          <a:noFill/>
          <a:ln/>
        </p:spPr>
        <p:txBody>
          <a:bodyPr wrap="square" rtlCol="0" anchor="ctr"/>
          <a:lstStyle/>
          <a:p>
            <a:pPr marL="0" indent="0" algn="ctr">
              <a:buNone/>
            </a:pPr>
            <a:r>
              <a:rPr lang="ar-EG" sz="4000" b="1" dirty="0">
                <a:solidFill>
                  <a:srgbClr val="6C63FF"/>
                </a:solidFill>
                <a:latin typeface="Calibri" pitchFamily="34" charset="0"/>
                <a:ea typeface="Calibri" pitchFamily="34" charset="-122"/>
                <a:cs typeface="Calibri" pitchFamily="34" charset="-120"/>
              </a:rPr>
              <a:t>126</a:t>
            </a:r>
            <a:endParaRPr lang="en-US" sz="4000" dirty="0"/>
          </a:p>
        </p:txBody>
      </p:sp>
      <p:sp>
        <p:nvSpPr>
          <p:cNvPr id="10" name="Text 6"/>
          <p:cNvSpPr/>
          <p:nvPr/>
        </p:nvSpPr>
        <p:spPr>
          <a:xfrm>
            <a:off x="27432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Total Test Cases</a:t>
            </a:r>
            <a:endParaRPr lang="en-US" sz="1000" dirty="0"/>
          </a:p>
        </p:txBody>
      </p:sp>
      <p:sp>
        <p:nvSpPr>
          <p:cNvPr id="11" name="Shape 7"/>
          <p:cNvSpPr/>
          <p:nvPr/>
        </p:nvSpPr>
        <p:spPr>
          <a:xfrm>
            <a:off x="2423160" y="1143000"/>
            <a:ext cx="1965960" cy="1371600"/>
          </a:xfrm>
          <a:prstGeom prst="roundRect">
            <a:avLst>
              <a:gd name="adj" fmla="val 6667"/>
            </a:avLst>
          </a:prstGeom>
          <a:solidFill>
            <a:srgbClr val="1A2340"/>
          </a:solidFill>
          <a:ln w="19050">
            <a:solidFill>
              <a:srgbClr val="00E676"/>
            </a:solidFill>
            <a:prstDash val="solid"/>
          </a:ln>
        </p:spPr>
        <p:txBody>
          <a:bodyPr/>
          <a:lstStyle/>
          <a:p>
            <a:endParaRPr lang="en-US"/>
          </a:p>
        </p:txBody>
      </p:sp>
      <p:sp>
        <p:nvSpPr>
          <p:cNvPr id="12" name="Text 8"/>
          <p:cNvSpPr/>
          <p:nvPr/>
        </p:nvSpPr>
        <p:spPr>
          <a:xfrm>
            <a:off x="2423160" y="1234440"/>
            <a:ext cx="1965960" cy="777240"/>
          </a:xfrm>
          <a:prstGeom prst="rect">
            <a:avLst/>
          </a:prstGeom>
          <a:noFill/>
          <a:ln/>
        </p:spPr>
        <p:txBody>
          <a:bodyPr wrap="square" rtlCol="0" anchor="ctr"/>
          <a:lstStyle/>
          <a:p>
            <a:pPr marL="0" indent="0" algn="ctr">
              <a:buNone/>
            </a:pPr>
            <a:r>
              <a:rPr lang="ar-EG" sz="4000" b="1" dirty="0">
                <a:solidFill>
                  <a:srgbClr val="00E676"/>
                </a:solidFill>
                <a:latin typeface="Calibri" pitchFamily="34" charset="0"/>
                <a:ea typeface="Calibri" pitchFamily="34" charset="-122"/>
                <a:cs typeface="Calibri" pitchFamily="34" charset="-120"/>
              </a:rPr>
              <a:t>126</a:t>
            </a:r>
            <a:endParaRPr lang="en-US" sz="4000" dirty="0"/>
          </a:p>
        </p:txBody>
      </p:sp>
      <p:sp>
        <p:nvSpPr>
          <p:cNvPr id="13" name="Text 9"/>
          <p:cNvSpPr/>
          <p:nvPr/>
        </p:nvSpPr>
        <p:spPr>
          <a:xfrm>
            <a:off x="242316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Passed</a:t>
            </a:r>
            <a:endParaRPr lang="en-US" sz="1000" dirty="0"/>
          </a:p>
        </p:txBody>
      </p:sp>
      <p:sp>
        <p:nvSpPr>
          <p:cNvPr id="14" name="Shape 10"/>
          <p:cNvSpPr/>
          <p:nvPr/>
        </p:nvSpPr>
        <p:spPr>
          <a:xfrm>
            <a:off x="4572000" y="1143000"/>
            <a:ext cx="1965960" cy="1371600"/>
          </a:xfrm>
          <a:prstGeom prst="roundRect">
            <a:avLst>
              <a:gd name="adj" fmla="val 6667"/>
            </a:avLst>
          </a:prstGeom>
          <a:solidFill>
            <a:srgbClr val="1A2340"/>
          </a:solidFill>
          <a:ln w="19050">
            <a:solidFill>
              <a:srgbClr val="FF5252"/>
            </a:solidFill>
            <a:prstDash val="solid"/>
          </a:ln>
        </p:spPr>
        <p:txBody>
          <a:bodyPr/>
          <a:lstStyle/>
          <a:p>
            <a:endParaRPr lang="en-US"/>
          </a:p>
        </p:txBody>
      </p:sp>
      <p:sp>
        <p:nvSpPr>
          <p:cNvPr id="15" name="Text 11"/>
          <p:cNvSpPr/>
          <p:nvPr/>
        </p:nvSpPr>
        <p:spPr>
          <a:xfrm>
            <a:off x="4572000" y="1234440"/>
            <a:ext cx="1965960" cy="777240"/>
          </a:xfrm>
          <a:prstGeom prst="rect">
            <a:avLst/>
          </a:prstGeom>
          <a:noFill/>
          <a:ln/>
        </p:spPr>
        <p:txBody>
          <a:bodyPr wrap="square" rtlCol="0" anchor="ctr"/>
          <a:lstStyle/>
          <a:p>
            <a:pPr marL="0" indent="0" algn="ctr">
              <a:buNone/>
            </a:pPr>
            <a:r>
              <a:rPr lang="ar-EG" sz="4000" b="1" dirty="0">
                <a:solidFill>
                  <a:srgbClr val="FF5252"/>
                </a:solidFill>
                <a:latin typeface="Calibri" pitchFamily="34" charset="0"/>
                <a:ea typeface="Calibri" pitchFamily="34" charset="-122"/>
                <a:cs typeface="Calibri" pitchFamily="34" charset="-120"/>
              </a:rPr>
              <a:t>0</a:t>
            </a:r>
            <a:endParaRPr lang="en-US" sz="4000" dirty="0"/>
          </a:p>
        </p:txBody>
      </p:sp>
      <p:sp>
        <p:nvSpPr>
          <p:cNvPr id="16" name="Text 12"/>
          <p:cNvSpPr/>
          <p:nvPr/>
        </p:nvSpPr>
        <p:spPr>
          <a:xfrm>
            <a:off x="457200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Failed</a:t>
            </a:r>
            <a:endParaRPr lang="en-US" sz="1000" dirty="0"/>
          </a:p>
        </p:txBody>
      </p:sp>
      <p:sp>
        <p:nvSpPr>
          <p:cNvPr id="17" name="Shape 13"/>
          <p:cNvSpPr/>
          <p:nvPr/>
        </p:nvSpPr>
        <p:spPr>
          <a:xfrm>
            <a:off x="6720840" y="1143000"/>
            <a:ext cx="1965960" cy="1371600"/>
          </a:xfrm>
          <a:prstGeom prst="roundRect">
            <a:avLst>
              <a:gd name="adj" fmla="val 6667"/>
            </a:avLst>
          </a:prstGeom>
          <a:solidFill>
            <a:srgbClr val="1A2340"/>
          </a:solidFill>
          <a:ln w="19050">
            <a:solidFill>
              <a:srgbClr val="FFB300"/>
            </a:solidFill>
            <a:prstDash val="solid"/>
          </a:ln>
        </p:spPr>
        <p:txBody>
          <a:bodyPr/>
          <a:lstStyle/>
          <a:p>
            <a:endParaRPr lang="en-US"/>
          </a:p>
        </p:txBody>
      </p:sp>
      <p:sp>
        <p:nvSpPr>
          <p:cNvPr id="18" name="Text 14"/>
          <p:cNvSpPr/>
          <p:nvPr/>
        </p:nvSpPr>
        <p:spPr>
          <a:xfrm>
            <a:off x="6720840" y="1234440"/>
            <a:ext cx="1965960" cy="777240"/>
          </a:xfrm>
          <a:prstGeom prst="rect">
            <a:avLst/>
          </a:prstGeom>
          <a:noFill/>
          <a:ln/>
        </p:spPr>
        <p:txBody>
          <a:bodyPr wrap="square" rtlCol="0" anchor="ctr"/>
          <a:lstStyle/>
          <a:p>
            <a:pPr marL="0" indent="0" algn="ctr">
              <a:buNone/>
            </a:pPr>
            <a:r>
              <a:rPr lang="ar-EG" sz="4000" b="1" dirty="0">
                <a:solidFill>
                  <a:srgbClr val="FFB300"/>
                </a:solidFill>
                <a:latin typeface="Calibri" pitchFamily="34" charset="0"/>
                <a:ea typeface="Calibri" pitchFamily="34" charset="-122"/>
                <a:cs typeface="Calibri" pitchFamily="34" charset="-120"/>
              </a:rPr>
              <a:t>0</a:t>
            </a:r>
            <a:endParaRPr lang="en-US" sz="4000" dirty="0"/>
          </a:p>
        </p:txBody>
      </p:sp>
      <p:sp>
        <p:nvSpPr>
          <p:cNvPr id="19" name="Text 15"/>
          <p:cNvSpPr/>
          <p:nvPr/>
        </p:nvSpPr>
        <p:spPr>
          <a:xfrm>
            <a:off x="6720840" y="1965960"/>
            <a:ext cx="1965960" cy="411480"/>
          </a:xfrm>
          <a:prstGeom prst="rect">
            <a:avLst/>
          </a:prstGeom>
          <a:noFill/>
          <a:ln/>
        </p:spPr>
        <p:txBody>
          <a:bodyPr wrap="square" rtlCol="0" anchor="ctr"/>
          <a:lstStyle/>
          <a:p>
            <a:pPr marL="0" indent="0" algn="ctr">
              <a:buNone/>
            </a:pPr>
            <a:r>
              <a:rPr lang="en-US" sz="1000" dirty="0">
                <a:solidFill>
                  <a:srgbClr val="8892A4"/>
                </a:solidFill>
                <a:latin typeface="Calibri" pitchFamily="34" charset="0"/>
                <a:ea typeface="Calibri" pitchFamily="34" charset="-122"/>
                <a:cs typeface="Calibri" pitchFamily="34" charset="-120"/>
              </a:rPr>
              <a:t>Bugs Found</a:t>
            </a:r>
            <a:endParaRPr lang="en-US" sz="1000" dirty="0"/>
          </a:p>
        </p:txBody>
      </p:sp>
      <p:graphicFrame>
        <p:nvGraphicFramePr>
          <p:cNvPr id="20" name="Chart 0"/>
          <p:cNvGraphicFramePr/>
          <p:nvPr>
            <p:extLst>
              <p:ext uri="{D42A27DB-BD31-4B8C-83A1-F6EECF244321}">
                <p14:modId xmlns:p14="http://schemas.microsoft.com/office/powerpoint/2010/main" val="395694009"/>
              </p:ext>
            </p:extLst>
          </p:nvPr>
        </p:nvGraphicFramePr>
        <p:xfrm>
          <a:off x="274319" y="2651760"/>
          <a:ext cx="5919011" cy="219456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21" name="Chart 1"/>
          <p:cNvGraphicFramePr/>
          <p:nvPr>
            <p:extLst>
              <p:ext uri="{D42A27DB-BD31-4B8C-83A1-F6EECF244321}">
                <p14:modId xmlns:p14="http://schemas.microsoft.com/office/powerpoint/2010/main" val="1835904181"/>
              </p:ext>
            </p:extLst>
          </p:nvPr>
        </p:nvGraphicFramePr>
        <p:xfrm>
          <a:off x="5669280" y="2651760"/>
          <a:ext cx="3291840" cy="219456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p:transition spd="slow">
    <p:comb/>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109728" y="73152"/>
            <a:ext cx="658368" cy="658368"/>
          </a:xfrm>
          <a:prstGeom prst="ellipse">
            <a:avLst/>
          </a:prstGeom>
        </p:spPr>
      </p:pic>
      <p:pic>
        <p:nvPicPr>
          <p:cNvPr id="3" name="Image 1" descr="preencoded.png"/>
          <p:cNvPicPr>
            <a:picLocks noChangeAspect="1"/>
          </p:cNvPicPr>
          <p:nvPr/>
        </p:nvPicPr>
        <p:blipFill>
          <a:blip r:embed="rId4"/>
          <a:stretch>
            <a:fillRect/>
          </a:stretch>
        </p:blipFill>
        <p:spPr>
          <a:xfrm>
            <a:off x="8375904" y="73152"/>
            <a:ext cx="658368" cy="658368"/>
          </a:xfrm>
          <a:prstGeom prst="rect">
            <a:avLst/>
          </a:prstGeom>
        </p:spPr>
      </p:pic>
      <p:sp>
        <p:nvSpPr>
          <p:cNvPr id="4" name="Shape 0"/>
          <p:cNvSpPr/>
          <p:nvPr/>
        </p:nvSpPr>
        <p:spPr>
          <a:xfrm>
            <a:off x="6858000" y="2286000"/>
            <a:ext cx="3657600" cy="3657600"/>
          </a:xfrm>
          <a:prstGeom prst="ellipse">
            <a:avLst/>
          </a:prstGeom>
          <a:solidFill>
            <a:srgbClr val="6C63FF">
              <a:alpha val="8000"/>
            </a:srgbClr>
          </a:solidFill>
          <a:ln w="12700">
            <a:solidFill>
              <a:srgbClr val="6C63FF"/>
            </a:solidFill>
            <a:prstDash val="solid"/>
          </a:ln>
        </p:spPr>
        <p:txBody>
          <a:bodyPr/>
          <a:lstStyle/>
          <a:p>
            <a:endParaRPr lang="en-US"/>
          </a:p>
        </p:txBody>
      </p:sp>
      <p:sp>
        <p:nvSpPr>
          <p:cNvPr id="5" name="Shape 1"/>
          <p:cNvSpPr/>
          <p:nvPr/>
        </p:nvSpPr>
        <p:spPr>
          <a:xfrm>
            <a:off x="-1371600" y="-914400"/>
            <a:ext cx="3200400" cy="3200400"/>
          </a:xfrm>
          <a:prstGeom prst="ellipse">
            <a:avLst/>
          </a:prstGeom>
          <a:solidFill>
            <a:srgbClr val="4FC3F7">
              <a:alpha val="10000"/>
            </a:srgbClr>
          </a:solidFill>
          <a:ln w="12700">
            <a:solidFill>
              <a:srgbClr val="4FC3F7"/>
            </a:solidFill>
            <a:prstDash val="solid"/>
          </a:ln>
        </p:spPr>
        <p:txBody>
          <a:bodyPr/>
          <a:lstStyle/>
          <a:p>
            <a:endParaRPr lang="en-US"/>
          </a:p>
        </p:txBody>
      </p:sp>
      <p:sp>
        <p:nvSpPr>
          <p:cNvPr id="6" name="Shape 2"/>
          <p:cNvSpPr/>
          <p:nvPr/>
        </p:nvSpPr>
        <p:spPr>
          <a:xfrm>
            <a:off x="365760" y="1371600"/>
            <a:ext cx="3657600" cy="0"/>
          </a:xfrm>
          <a:prstGeom prst="line">
            <a:avLst/>
          </a:prstGeom>
          <a:noFill/>
          <a:ln w="19050">
            <a:solidFill>
              <a:srgbClr val="6C63FF"/>
            </a:solidFill>
            <a:prstDash val="solid"/>
          </a:ln>
        </p:spPr>
        <p:txBody>
          <a:bodyPr/>
          <a:lstStyle/>
          <a:p>
            <a:endParaRPr lang="en-US"/>
          </a:p>
        </p:txBody>
      </p:sp>
      <p:sp>
        <p:nvSpPr>
          <p:cNvPr id="7" name="Text 3"/>
          <p:cNvSpPr/>
          <p:nvPr/>
        </p:nvSpPr>
        <p:spPr>
          <a:xfrm>
            <a:off x="768096" y="320040"/>
            <a:ext cx="5084064" cy="685800"/>
          </a:xfrm>
          <a:prstGeom prst="rect">
            <a:avLst/>
          </a:prstGeom>
          <a:noFill/>
          <a:ln/>
        </p:spPr>
        <p:txBody>
          <a:bodyPr wrap="square" rtlCol="0" anchor="ctr"/>
          <a:lstStyle/>
          <a:p>
            <a:pPr marL="0" indent="0">
              <a:buNone/>
            </a:pPr>
            <a:r>
              <a:rPr lang="en-US" sz="3600" b="1" dirty="0">
                <a:solidFill>
                  <a:srgbClr val="F1F5FB"/>
                </a:solidFill>
                <a:latin typeface="Calibri" pitchFamily="34" charset="0"/>
                <a:ea typeface="Calibri" pitchFamily="34" charset="-122"/>
                <a:cs typeface="Calibri" pitchFamily="34" charset="-120"/>
              </a:rPr>
              <a:t>Conclusion</a:t>
            </a:r>
            <a:endParaRPr lang="en-US" sz="3600" dirty="0"/>
          </a:p>
        </p:txBody>
      </p:sp>
      <p:sp>
        <p:nvSpPr>
          <p:cNvPr id="8" name="Shape 4"/>
          <p:cNvSpPr/>
          <p:nvPr/>
        </p:nvSpPr>
        <p:spPr>
          <a:xfrm>
            <a:off x="365760" y="1508760"/>
            <a:ext cx="5303520" cy="868680"/>
          </a:xfrm>
          <a:prstGeom prst="roundRect">
            <a:avLst>
              <a:gd name="adj" fmla="val 8421"/>
            </a:avLst>
          </a:prstGeom>
          <a:solidFill>
            <a:srgbClr val="141B2D"/>
          </a:solidFill>
          <a:ln w="12700">
            <a:solidFill>
              <a:srgbClr val="6C63FF"/>
            </a:solidFill>
            <a:prstDash val="solid"/>
          </a:ln>
        </p:spPr>
        <p:txBody>
          <a:bodyPr/>
          <a:lstStyle/>
          <a:p>
            <a:endParaRPr lang="en-US"/>
          </a:p>
        </p:txBody>
      </p:sp>
      <p:sp>
        <p:nvSpPr>
          <p:cNvPr id="9" name="Text 5"/>
          <p:cNvSpPr/>
          <p:nvPr/>
        </p:nvSpPr>
        <p:spPr>
          <a:xfrm>
            <a:off x="594360" y="1581912"/>
            <a:ext cx="1828800" cy="329184"/>
          </a:xfrm>
          <a:prstGeom prst="rect">
            <a:avLst/>
          </a:prstGeom>
          <a:noFill/>
          <a:ln/>
        </p:spPr>
        <p:txBody>
          <a:bodyPr wrap="square" rtlCol="0" anchor="ctr"/>
          <a:lstStyle/>
          <a:p>
            <a:pPr marL="0" indent="0">
              <a:buNone/>
            </a:pPr>
            <a:r>
              <a:rPr lang="en-US" sz="1300" b="1" dirty="0">
                <a:solidFill>
                  <a:srgbClr val="6C63FF"/>
                </a:solidFill>
                <a:latin typeface="Calibri" pitchFamily="34" charset="0"/>
                <a:ea typeface="Calibri" pitchFamily="34" charset="-122"/>
                <a:cs typeface="Calibri" pitchFamily="34" charset="-120"/>
              </a:rPr>
              <a:t>Summary</a:t>
            </a:r>
            <a:endParaRPr lang="en-US" sz="1300" dirty="0"/>
          </a:p>
        </p:txBody>
      </p:sp>
      <p:sp>
        <p:nvSpPr>
          <p:cNvPr id="10" name="Text 6"/>
          <p:cNvSpPr/>
          <p:nvPr/>
        </p:nvSpPr>
        <p:spPr>
          <a:xfrm>
            <a:off x="594360" y="1920240"/>
            <a:ext cx="475488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Successfully validated major functionalities.</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Verified API responses.</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Automated critical scenarios.</a:t>
            </a:r>
            <a:endParaRPr lang="en-US" sz="1100" dirty="0"/>
          </a:p>
        </p:txBody>
      </p:sp>
      <p:sp>
        <p:nvSpPr>
          <p:cNvPr id="11" name="Shape 7"/>
          <p:cNvSpPr/>
          <p:nvPr/>
        </p:nvSpPr>
        <p:spPr>
          <a:xfrm>
            <a:off x="365760" y="2560320"/>
            <a:ext cx="5303520" cy="868680"/>
          </a:xfrm>
          <a:prstGeom prst="roundRect">
            <a:avLst>
              <a:gd name="adj" fmla="val 8421"/>
            </a:avLst>
          </a:prstGeom>
          <a:solidFill>
            <a:srgbClr val="141B2D"/>
          </a:solidFill>
          <a:ln w="12700">
            <a:solidFill>
              <a:srgbClr val="4FC3F7"/>
            </a:solidFill>
            <a:prstDash val="solid"/>
          </a:ln>
        </p:spPr>
        <p:txBody>
          <a:bodyPr/>
          <a:lstStyle/>
          <a:p>
            <a:endParaRPr lang="en-US"/>
          </a:p>
        </p:txBody>
      </p:sp>
      <p:sp>
        <p:nvSpPr>
          <p:cNvPr id="12" name="Text 8"/>
          <p:cNvSpPr/>
          <p:nvPr/>
        </p:nvSpPr>
        <p:spPr>
          <a:xfrm>
            <a:off x="594360" y="2633472"/>
            <a:ext cx="1828800" cy="329184"/>
          </a:xfrm>
          <a:prstGeom prst="rect">
            <a:avLst/>
          </a:prstGeom>
          <a:noFill/>
          <a:ln/>
        </p:spPr>
        <p:txBody>
          <a:bodyPr wrap="square" rtlCol="0" anchor="ctr"/>
          <a:lstStyle/>
          <a:p>
            <a:pPr marL="0" indent="0">
              <a:buNone/>
            </a:pPr>
            <a:r>
              <a:rPr lang="en-US" sz="1300" b="1" dirty="0">
                <a:solidFill>
                  <a:srgbClr val="4FC3F7"/>
                </a:solidFill>
                <a:latin typeface="Calibri" pitchFamily="34" charset="0"/>
                <a:ea typeface="Calibri" pitchFamily="34" charset="-122"/>
                <a:cs typeface="Calibri" pitchFamily="34" charset="-120"/>
              </a:rPr>
              <a:t>Learnings</a:t>
            </a:r>
            <a:endParaRPr lang="en-US" sz="1300" dirty="0"/>
          </a:p>
        </p:txBody>
      </p:sp>
      <p:sp>
        <p:nvSpPr>
          <p:cNvPr id="13" name="Text 9"/>
          <p:cNvSpPr/>
          <p:nvPr/>
        </p:nvSpPr>
        <p:spPr>
          <a:xfrm>
            <a:off x="594360" y="2971800"/>
            <a:ext cx="475488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Writing effective test cases.</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API validation.</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Selenium automation framework creation.</a:t>
            </a:r>
            <a:endParaRPr lang="en-US" sz="1100" dirty="0"/>
          </a:p>
        </p:txBody>
      </p:sp>
      <p:sp>
        <p:nvSpPr>
          <p:cNvPr id="14" name="Shape 10"/>
          <p:cNvSpPr/>
          <p:nvPr/>
        </p:nvSpPr>
        <p:spPr>
          <a:xfrm>
            <a:off x="365760" y="3611880"/>
            <a:ext cx="5303520" cy="868680"/>
          </a:xfrm>
          <a:prstGeom prst="roundRect">
            <a:avLst>
              <a:gd name="adj" fmla="val 8421"/>
            </a:avLst>
          </a:prstGeom>
          <a:solidFill>
            <a:srgbClr val="141B2D"/>
          </a:solidFill>
          <a:ln w="12700">
            <a:solidFill>
              <a:srgbClr val="00E676"/>
            </a:solidFill>
            <a:prstDash val="solid"/>
          </a:ln>
        </p:spPr>
        <p:txBody>
          <a:bodyPr/>
          <a:lstStyle/>
          <a:p>
            <a:endParaRPr lang="en-US"/>
          </a:p>
        </p:txBody>
      </p:sp>
      <p:sp>
        <p:nvSpPr>
          <p:cNvPr id="15" name="Text 11"/>
          <p:cNvSpPr/>
          <p:nvPr/>
        </p:nvSpPr>
        <p:spPr>
          <a:xfrm>
            <a:off x="594360" y="3685032"/>
            <a:ext cx="1828800" cy="329184"/>
          </a:xfrm>
          <a:prstGeom prst="rect">
            <a:avLst/>
          </a:prstGeom>
          <a:noFill/>
          <a:ln/>
        </p:spPr>
        <p:txBody>
          <a:bodyPr wrap="square" rtlCol="0" anchor="ctr"/>
          <a:lstStyle/>
          <a:p>
            <a:pPr marL="0" indent="0">
              <a:buNone/>
            </a:pPr>
            <a:r>
              <a:rPr lang="en-US" sz="1300" b="1" dirty="0">
                <a:solidFill>
                  <a:srgbClr val="00E676"/>
                </a:solidFill>
                <a:latin typeface="Calibri" pitchFamily="34" charset="0"/>
                <a:ea typeface="Calibri" pitchFamily="34" charset="-122"/>
                <a:cs typeface="Calibri" pitchFamily="34" charset="-120"/>
              </a:rPr>
              <a:t>Future Work</a:t>
            </a:r>
            <a:endParaRPr lang="en-US" sz="1300" dirty="0"/>
          </a:p>
        </p:txBody>
      </p:sp>
      <p:sp>
        <p:nvSpPr>
          <p:cNvPr id="16" name="Text 12"/>
          <p:cNvSpPr/>
          <p:nvPr/>
        </p:nvSpPr>
        <p:spPr>
          <a:xfrm>
            <a:off x="594360" y="4023360"/>
            <a:ext cx="4754880" cy="320040"/>
          </a:xfrm>
          <a:prstGeom prst="rect">
            <a:avLst/>
          </a:prstGeom>
          <a:noFill/>
          <a:ln/>
        </p:spPr>
        <p:txBody>
          <a:bodyPr wrap="square" rtlCol="0" anchor="ctr"/>
          <a:lstStyle/>
          <a:p>
            <a:pPr marL="0" indent="0">
              <a:buNone/>
            </a:pPr>
            <a:r>
              <a:rPr lang="en-US" sz="1100" dirty="0">
                <a:solidFill>
                  <a:srgbClr val="8892A4"/>
                </a:solidFill>
                <a:latin typeface="Calibri" pitchFamily="34" charset="0"/>
                <a:ea typeface="Calibri" pitchFamily="34" charset="-122"/>
                <a:cs typeface="Calibri" pitchFamily="34" charset="-120"/>
              </a:rPr>
              <a:t>Increase automation coverage.</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Add performance testing.</a:t>
            </a:r>
            <a:endParaRPr lang="ar-EG" sz="1100" dirty="0">
              <a:solidFill>
                <a:srgbClr val="8892A4"/>
              </a:solidFill>
              <a:latin typeface="Calibri" pitchFamily="34" charset="0"/>
              <a:ea typeface="Calibri" pitchFamily="34" charset="-122"/>
              <a:cs typeface="Calibri" pitchFamily="34" charset="-120"/>
            </a:endParaRPr>
          </a:p>
          <a:p>
            <a:pPr marL="0" indent="0">
              <a:buNone/>
            </a:pPr>
            <a:r>
              <a:rPr lang="en-US" sz="1100" dirty="0">
                <a:solidFill>
                  <a:srgbClr val="8892A4"/>
                </a:solidFill>
                <a:latin typeface="Calibri" pitchFamily="34" charset="0"/>
                <a:ea typeface="Calibri" pitchFamily="34" charset="-122"/>
                <a:cs typeface="Calibri" pitchFamily="34" charset="-120"/>
              </a:rPr>
              <a:t>Integrate CI/CD pipeline.</a:t>
            </a:r>
            <a:endParaRPr lang="en-US" sz="1100" dirty="0"/>
          </a:p>
        </p:txBody>
      </p:sp>
      <p:sp>
        <p:nvSpPr>
          <p:cNvPr id="17" name="Shape 13"/>
          <p:cNvSpPr/>
          <p:nvPr/>
        </p:nvSpPr>
        <p:spPr>
          <a:xfrm>
            <a:off x="5760720" y="1371600"/>
            <a:ext cx="3108960" cy="3474720"/>
          </a:xfrm>
          <a:prstGeom prst="roundRect">
            <a:avLst>
              <a:gd name="adj" fmla="val 3529"/>
            </a:avLst>
          </a:prstGeom>
          <a:solidFill>
            <a:srgbClr val="1A2340"/>
          </a:solidFill>
          <a:ln w="12700">
            <a:solidFill>
              <a:srgbClr val="6C63FF"/>
            </a:solidFill>
            <a:prstDash val="solid"/>
          </a:ln>
        </p:spPr>
        <p:txBody>
          <a:bodyPr/>
          <a:lstStyle/>
          <a:p>
            <a:endParaRPr lang="en-US"/>
          </a:p>
        </p:txBody>
      </p:sp>
      <p:sp>
        <p:nvSpPr>
          <p:cNvPr id="18" name="Text 14"/>
          <p:cNvSpPr/>
          <p:nvPr/>
        </p:nvSpPr>
        <p:spPr>
          <a:xfrm>
            <a:off x="5760720" y="1737360"/>
            <a:ext cx="3108960" cy="594360"/>
          </a:xfrm>
          <a:prstGeom prst="rect">
            <a:avLst/>
          </a:prstGeom>
          <a:noFill/>
          <a:ln/>
        </p:spPr>
        <p:txBody>
          <a:bodyPr wrap="square" rtlCol="0" anchor="ctr"/>
          <a:lstStyle/>
          <a:p>
            <a:pPr marL="0" indent="0" algn="ctr">
              <a:buNone/>
            </a:pPr>
            <a:r>
              <a:rPr lang="en-US" sz="3000" b="1" dirty="0">
                <a:solidFill>
                  <a:srgbClr val="F1F5FB"/>
                </a:solidFill>
                <a:latin typeface="Calibri" pitchFamily="34" charset="0"/>
                <a:ea typeface="Calibri" pitchFamily="34" charset="-122"/>
                <a:cs typeface="Calibri" pitchFamily="34" charset="-120"/>
              </a:rPr>
              <a:t>Thank</a:t>
            </a:r>
            <a:endParaRPr lang="en-US" sz="3000" dirty="0"/>
          </a:p>
        </p:txBody>
      </p:sp>
      <p:sp>
        <p:nvSpPr>
          <p:cNvPr id="19" name="Text 15"/>
          <p:cNvSpPr/>
          <p:nvPr/>
        </p:nvSpPr>
        <p:spPr>
          <a:xfrm>
            <a:off x="5760720" y="2286000"/>
            <a:ext cx="3108960" cy="594360"/>
          </a:xfrm>
          <a:prstGeom prst="rect">
            <a:avLst/>
          </a:prstGeom>
          <a:noFill/>
          <a:ln/>
        </p:spPr>
        <p:txBody>
          <a:bodyPr wrap="square" rtlCol="0" anchor="ctr"/>
          <a:lstStyle/>
          <a:p>
            <a:pPr marL="0" indent="0" algn="ctr">
              <a:buNone/>
            </a:pPr>
            <a:r>
              <a:rPr lang="en-US" sz="3000" b="1" dirty="0">
                <a:solidFill>
                  <a:srgbClr val="6C63FF"/>
                </a:solidFill>
                <a:latin typeface="Calibri" pitchFamily="34" charset="0"/>
                <a:ea typeface="Calibri" pitchFamily="34" charset="-122"/>
                <a:cs typeface="Calibri" pitchFamily="34" charset="-120"/>
              </a:rPr>
              <a:t>You!</a:t>
            </a:r>
            <a:endParaRPr lang="en-US" sz="3000" dirty="0"/>
          </a:p>
        </p:txBody>
      </p:sp>
      <p:sp>
        <p:nvSpPr>
          <p:cNvPr id="20" name="Shape 16"/>
          <p:cNvSpPr/>
          <p:nvPr/>
        </p:nvSpPr>
        <p:spPr>
          <a:xfrm>
            <a:off x="6217920" y="2971800"/>
            <a:ext cx="2194560" cy="0"/>
          </a:xfrm>
          <a:prstGeom prst="line">
            <a:avLst/>
          </a:prstGeom>
          <a:noFill/>
          <a:ln w="6350">
            <a:solidFill>
              <a:srgbClr val="1E2D4A"/>
            </a:solidFill>
            <a:prstDash val="solid"/>
          </a:ln>
        </p:spPr>
        <p:txBody>
          <a:bodyPr/>
          <a:lstStyle/>
          <a:p>
            <a:endParaRPr lang="en-US"/>
          </a:p>
        </p:txBody>
      </p:sp>
      <p:sp>
        <p:nvSpPr>
          <p:cNvPr id="21" name="Text 17"/>
          <p:cNvSpPr/>
          <p:nvPr/>
        </p:nvSpPr>
        <p:spPr>
          <a:xfrm>
            <a:off x="5760720" y="3154680"/>
            <a:ext cx="3108960" cy="731520"/>
          </a:xfrm>
          <a:prstGeom prst="rect">
            <a:avLst/>
          </a:prstGeom>
          <a:noFill/>
          <a:ln/>
        </p:spPr>
        <p:txBody>
          <a:bodyPr wrap="square" rtlCol="0" anchor="ctr"/>
          <a:lstStyle/>
          <a:p>
            <a:pPr marL="0" indent="0" algn="ctr">
              <a:buNone/>
            </a:pPr>
            <a:r>
              <a:rPr lang="en-US" sz="1100" dirty="0">
                <a:solidFill>
                  <a:srgbClr val="8892A4"/>
                </a:solidFill>
                <a:latin typeface="Calibri" pitchFamily="34" charset="0"/>
                <a:ea typeface="Calibri" pitchFamily="34" charset="-122"/>
                <a:cs typeface="Calibri" pitchFamily="34" charset="-120"/>
              </a:rPr>
              <a:t>ITC Graduation Project</a:t>
            </a:r>
            <a:endParaRPr lang="en-US" sz="1100" dirty="0"/>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2043</TotalTime>
  <Words>522</Words>
  <Application>Microsoft Office PowerPoint</Application>
  <PresentationFormat>On-screen Show (16:9)</PresentationFormat>
  <Paragraphs>172</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ITC Graduation Project</dc:title>
  <dc:subject>PptxGenJS Presentation</dc:subject>
  <dc:creator>PptxGenJS</dc:creator>
  <cp:lastModifiedBy>Ahmed Saleh</cp:lastModifiedBy>
  <cp:revision>8</cp:revision>
  <dcterms:created xsi:type="dcterms:W3CDTF">2026-06-22T16:21:38Z</dcterms:created>
  <dcterms:modified xsi:type="dcterms:W3CDTF">2026-06-30T15:25:12Z</dcterms:modified>
</cp:coreProperties>
</file>